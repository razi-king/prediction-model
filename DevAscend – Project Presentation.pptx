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DevAscend is a developer growth predictor: a developer enters their profile, and machine learning trained on 153,645 real developers predicts their current level, their market value, how they will grow, and what they should learn next. Everything is built end to end: data in Apache Cassandra, models in Python, a FastAPI backend and a Next.js frontend with a 3D Three.js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Every developer wonders where they stand, how long it will take to grow, and what to learn next. Career advice is usually opinion. Our idea: answer these questions with data from real developers. A second problem I faced myself: after learning HTML, CSS, JS and React, I only discovered things like validation and Git workflow at work. DevAscend also recommends those hidden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on the left, nine outputs on the right. The first six come from the ML models and the simulator. The learning guide and roadmap combine ML with a knowledge base. The accuracy page shows honestly how far predictions are from real data. Outputs in cyan are data-driven; outputs in violet add the knowledge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the Stack Overflow Developer Survey, five years combined, 360,519 responses. Columns used: years of coding, years professional, job role, languages, frameworks, databases, platforms, tools, education, country, yearly salary in USD, and from 2023 whether they use AI tools. Each year's columns differ slightly, for example 2025 renamed YearsCodePro to WorkExp, so the ingest step maps all years to one schema. Cleaning keeps professional developers with a salary, removes salary outliers, converts text like "Less than 1 year" to numbers, maps 30+ job types to 15 roles and merges skill spellings. Each developer becomes 151 features: 5 numbers, 15 roles one-hot, 31 countries one-hot and 100 skills multi-hot.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Cassandra is a distributed NoSQL database built for large write-heavy data with no single point of failure. It runs in Docker. ingest.py loads all 360,519 rows using a prepared statement and 100 concurrent inserts, about 4 minutes. The training data really comes from Cassandra: clean.py reads one partition per survey year with paging (fetch_size 5000). The API also writes every prediction into a second table and reads the latest ones back. Key terms: keyspace = database, partition key = which node stores the row, clustering key = sort order inside a partition. Lesson learned: COUNT(*) over the whole table times out, so we count per partition.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important viva point. Nothing in the survey says Junior or Senior, so we defined the label from two facts: how experienced you are compared with all developers, and how well the market pays you compared with developers in the same country and year. Comparing within a country makes the label fair across countries and inflation. The medians confirm the label is sensible: Juniors have about 3 years, Leads about 20. Because experience is only half of the label, the classifier cannot simply copy the experience column; the salary half must be learned from skills, role, country and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 is classification with four classes; Model B is regression on salary, used as a measurable stand-in for how the market values your skills. For each, we compared a linear baseline, Random Forest and XGBoost on exactly the same split, and saved the best with joblib. XGBoost won both because boosting captures non-linear effects and interactions, like Kubernetes being worth more in some countries. Salary is skewed, so Model B learns log(salary) and converts back with exp. We also added a monotone constraint so predicted salary can only go up with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on the 20% test set the models never saw. Level: 65.2% exact against 30% for guessing, and 97.9% within one level; only 2.1% are off by two or more. Salary: MAE is the average miss in dollars, RMSE squares errors so big misses count more; both are far below the no-ML baseline. The median error is 25.5%. Because salary can never be predicted exactly (company, city and negotiation are not in the survey), we show a range: 80% of real salaries were between 0.575 and 1.78 times the prediction, and exactly 80.0% of test developers fell inside it. The website has a full accuracy page with the confusion matrix and real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 is not a separately trained model; it is logic on top of Models A and B. Every month we add experience, add skills from the roadmap when enough study hours are done, and re-predict. All 121 months are predicted in one batch so it is fast. Two smoothing tricks: we interpolate between whole years because the survey records whole years, and we keep a running maximum because gaining experience should never make you worse. We simulate two scenarios, experience only and with the roadmap, and the gap is the value of learning. The what-if engine uses the same idea: switch one missing skill on, re-predict, and measure the change in value and time to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survey only knows about 100 technologies, so pure ML cannot recommend Tailwind, validation or system design. This is the cold-start problem. We combine a knowledge base of 52 topics, which has prerequisites so it works like a skill tree, with the ML what-if boost and market trends computed from 5 years of survey data. Scoring rules: +3 if it is a core skill of your role, +2 for workplace essentials if you are Junior or Mid, +1.5 if rising in the data, plus up to 3 for the ML boost. The roadmap is built greedily: pick the best topic, pretend you learned it, which can unlock new ones like React to Next.js, and repeat. Real trend from our Cassandra data: AI tool use went from 43% to 81% in two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The Next.js web app has a 3D Three.js scene, the profile form built from reusable Form and Input components, and the dashboard. It calls the FastAPI backend, which validates every request with Pydantic and loads the models once at startup. The ML layer holds the two trained XGBoost models and the logic built on them. Cassandra sits underneath: it supplies the training data and stores every prediction. If Cassandra is down the API still predicts; only history is switched off. A full analysis takes about one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limitations; examiners respect it. We never observe the same developer over years, so growth is a simulation. Skill effects are correlations: Kafka users earn more partly because Kafka is used at big companies. Salary depends on things not in the survey. Study hours are estimates. Future work: data that follows people over time, more features, SHAP, tuning with cross-validation, and a real multi-node Cassandra cluster. Then offer a live demo: the Predictor page and the Model accuracy page, and the interactive API docs at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21A3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08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EEF2F8"/>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2201"/>
            <a:ext cx="10566400" cy="4152999"/>
          </a:xfrm>
          <a:prstGeom prst="rect">
            <a:avLst/>
          </a:prstGeom>
          <a:noFill/>
          <a:ln/>
        </p:spPr>
        <p:txBody>
          <a:bodyPr wrap="square" lIns="0" tIns="0" rIns="0" bIns="0" rtlCol="0" anchor="t"/>
          <a:lstStyle>
            <a:lvl1pPr algn="l" indent="0" marL="0">
              <a:lnSpc>
                <a:spcPct val="140000"/>
              </a:lnSpc>
              <a:buNone/>
              <a:defRPr lang="en-US" sz="1600" dirty="0">
                <a:solidFill>
                  <a:srgbClr val="EEF2F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008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EEF2F8"/>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2201"/>
            <a:ext cx="10566400" cy="4152999"/>
          </a:xfrm>
          <a:prstGeom prst="rect">
            <a:avLst/>
          </a:prstGeom>
          <a:noFill/>
          <a:ln/>
        </p:spPr>
        <p:txBody>
          <a:bodyPr wrap="square" lIns="0" tIns="0" rIns="0" bIns="0" rtlCol="0" anchor="t"/>
          <a:lstStyle>
            <a:lvl1pPr algn="l" indent="0" marL="0">
              <a:lnSpc>
                <a:spcPct val="140000"/>
              </a:lnSpc>
              <a:buNone/>
              <a:defRPr lang="en-US" sz="1600" dirty="0">
                <a:solidFill>
                  <a:srgbClr val="EEF2F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008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EEF2F8"/>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2201"/>
            <a:ext cx="10566400" cy="4152999"/>
          </a:xfrm>
          <a:prstGeom prst="rect">
            <a:avLst/>
          </a:prstGeom>
          <a:noFill/>
          <a:ln/>
        </p:spPr>
        <p:txBody>
          <a:bodyPr wrap="square" lIns="0" tIns="0" rIns="0" bIns="0" rtlCol="0" anchor="t"/>
          <a:lstStyle>
            <a:lvl1pPr algn="l" indent="0" marL="0">
              <a:lnSpc>
                <a:spcPct val="140000"/>
              </a:lnSpc>
              <a:buNone/>
              <a:defRPr lang="en-US" sz="1600" dirty="0">
                <a:solidFill>
                  <a:srgbClr val="EEF2F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1A3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08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EEF2F8"/>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2201"/>
            <a:ext cx="10566400" cy="4152999"/>
          </a:xfrm>
          <a:prstGeom prst="rect">
            <a:avLst/>
          </a:prstGeom>
          <a:noFill/>
          <a:ln/>
        </p:spPr>
        <p:txBody>
          <a:bodyPr wrap="square" lIns="0" tIns="0" rIns="0" bIns="0" rtlCol="0" anchor="t"/>
          <a:lstStyle>
            <a:lvl1pPr algn="l" indent="0" marL="0">
              <a:lnSpc>
                <a:spcPct val="140000"/>
              </a:lnSpc>
              <a:buNone/>
              <a:defRPr lang="en-US" sz="1600" dirty="0">
                <a:solidFill>
                  <a:srgbClr val="EEF2F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493000" y="952500"/>
            <a:ext cx="3937000" cy="3937000"/>
          </a:xfrm>
          <a:prstGeom prst="rect">
            <a:avLst/>
          </a:prstGeom>
        </p:spPr>
      </p:pic>
      <p:pic>
        <p:nvPicPr>
          <p:cNvPr id="3" name="Image 1" descr="ellipse">    </p:cNvPr>
          <p:cNvPicPr>
            <a:picLocks noChangeAspect="1"/>
          </p:cNvPicPr>
          <p:nvPr/>
        </p:nvPicPr>
        <p:blipFill>
          <a:blip r:embed="rId2"/>
          <a:srcRect l="0" r="0" t="0" b="0"/>
          <a:stretch/>
        </p:blipFill>
        <p:spPr>
          <a:xfrm>
            <a:off x="8064500" y="1524000"/>
            <a:ext cx="2794000" cy="2794000"/>
          </a:xfrm>
          <a:prstGeom prst="rect">
            <a:avLst/>
          </a:prstGeom>
        </p:spPr>
      </p:pic>
      <p:pic>
        <p:nvPicPr>
          <p:cNvPr id="4" name="Image 2" descr="ellipse">    </p:cNvPr>
          <p:cNvPicPr>
            <a:picLocks noChangeAspect="1"/>
          </p:cNvPicPr>
          <p:nvPr/>
        </p:nvPicPr>
        <p:blipFill>
          <a:blip r:embed="rId3"/>
          <a:srcRect l="0" r="0" t="0" b="0"/>
          <a:stretch/>
        </p:blipFill>
        <p:spPr>
          <a:xfrm>
            <a:off x="8763000" y="2222500"/>
            <a:ext cx="1397000" cy="1397000"/>
          </a:xfrm>
          <a:prstGeom prst="rect">
            <a:avLst/>
          </a:prstGeom>
        </p:spPr>
      </p:pic>
      <p:pic>
        <p:nvPicPr>
          <p:cNvPr id="5" name="Image 3" descr="arrow-up">    </p:cNvPr>
          <p:cNvPicPr>
            <a:picLocks noChangeAspect="1"/>
          </p:cNvPicPr>
          <p:nvPr/>
        </p:nvPicPr>
        <p:blipFill>
          <a:blip r:embed="rId4"/>
          <a:srcRect l="0" r="0" t="0" b="0"/>
          <a:stretch/>
        </p:blipFill>
        <p:spPr>
          <a:xfrm>
            <a:off x="9144000" y="2413000"/>
            <a:ext cx="635000" cy="1016000"/>
          </a:xfrm>
          <a:prstGeom prst="rect">
            <a:avLst/>
          </a:prstGeom>
        </p:spPr>
      </p:pic>
      <p:sp>
        <p:nvSpPr>
          <p:cNvPr id="6" name="Text 0"/>
          <p:cNvSpPr/>
          <p:nvPr/>
        </p:nvSpPr>
        <p:spPr>
          <a:xfrm>
            <a:off x="812800" y="169683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3DD9EB"/>
                </a:solidFill>
                <a:latin typeface="JetBrains Mono" pitchFamily="49" charset="0"/>
                <a:ea typeface="JetBrains Mono" pitchFamily="49" charset="-122"/>
                <a:cs typeface="JetBrains Mono" pitchFamily="49" charset="-120"/>
              </a:rPr>
              <a:t>SEMESTER PROJECT · MACHINE LEARNING</a:t>
            </a:r>
            <a:endParaRPr lang="en-US" sz="1400" dirty="0"/>
          </a:p>
        </p:txBody>
      </p:sp>
      <p:sp>
        <p:nvSpPr>
          <p:cNvPr id="7" name="Text 1"/>
          <p:cNvSpPr/>
          <p:nvPr>
            <p:ph type="title"/>
          </p:nvPr>
        </p:nvSpPr>
        <p:spPr>
          <a:xfrm>
            <a:off x="812800" y="2199680"/>
            <a:ext cx="6540500" cy="1168400"/>
          </a:xfrm>
          <a:prstGeom prst="rect">
            <a:avLst/>
          </a:prstGeom>
          <a:noFill/>
          <a:ln/>
        </p:spPr>
        <p:txBody>
          <a:bodyPr wrap="square" lIns="0" tIns="0" rIns="0" bIns="0" rtlCol="0" anchor="t">
            <a:normAutofit/>
          </a:bodyPr>
          <a:lstStyle/>
          <a:p>
            <a:pPr algn="l" indent="0" marL="0">
              <a:lnSpc>
                <a:spcPts val="9000"/>
              </a:lnSpc>
              <a:buNone/>
            </a:pPr>
            <a:r>
              <a:rPr lang="en-US" sz="9000" b="1" i="0" dirty="0">
                <a:gradFill rotWithShape="1">
                  <a:gsLst>
                    <a:gs pos="0">
                      <a:srgbClr val="3DD9EB"/>
                    </a:gs>
                    <a:gs pos="100000">
                      <a:srgbClr val="9B8CFF"/>
                    </a:gs>
                  </a:gsLst>
                  <a:lin ang="0" scaled="0"/>
                </a:gradFill>
                <a:latin typeface="Space Grotesk" pitchFamily="34" charset="0"/>
                <a:ea typeface="Space Grotesk" pitchFamily="34" charset="-122"/>
                <a:cs typeface="Space Grotesk" pitchFamily="34" charset="-120"/>
              </a:rPr>
              <a:t>DevAscend</a:t>
            </a:r>
            <a:endParaRPr lang="en-US" sz="9000" dirty="0"/>
          </a:p>
        </p:txBody>
      </p:sp>
      <p:sp>
        <p:nvSpPr>
          <p:cNvPr id="8" name="Text 2"/>
          <p:cNvSpPr/>
          <p:nvPr/>
        </p:nvSpPr>
        <p:spPr>
          <a:xfrm>
            <a:off x="812800" y="3596680"/>
            <a:ext cx="627888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7C2D9"/>
                </a:solidFill>
                <a:latin typeface="IBM Plex Sans" pitchFamily="34" charset="0"/>
                <a:ea typeface="IBM Plex Sans" pitchFamily="34" charset="-122"/>
                <a:cs typeface="IBM Plex Sans" pitchFamily="34" charset="-120"/>
              </a:rPr>
              <a:t>A machine learning model that predicts a developer’s level, growth and what to learn next</a:t>
            </a:r>
            <a:endParaRPr lang="en-US" sz="2200" dirty="0"/>
          </a:p>
        </p:txBody>
      </p:sp>
      <p:sp>
        <p:nvSpPr>
          <p:cNvPr id="9" name="Text 3"/>
          <p:cNvSpPr/>
          <p:nvPr/>
        </p:nvSpPr>
        <p:spPr>
          <a:xfrm>
            <a:off x="812800" y="4576961"/>
            <a:ext cx="71945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2F8"/>
                </a:solidFill>
                <a:latin typeface="IBM Plex Sans" pitchFamily="34" charset="0"/>
                <a:ea typeface="IBM Plex Sans" pitchFamily="34" charset="-122"/>
                <a:cs typeface="IBM Plex Sans" pitchFamily="34" charset="-120"/>
              </a:rPr>
              <a:t>Razi Ahmed · Roll No. 57</a:t>
            </a:r>
            <a:endParaRPr lang="en-US" sz="1600" dirty="0"/>
          </a:p>
        </p:txBody>
      </p:sp>
      <p:sp>
        <p:nvSpPr>
          <p:cNvPr id="10" name="Text 4"/>
          <p:cNvSpPr/>
          <p:nvPr/>
        </p:nvSpPr>
        <p:spPr>
          <a:xfrm>
            <a:off x="812800" y="4912221"/>
            <a:ext cx="71945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F8BA6"/>
                </a:solidFill>
                <a:latin typeface="IBM Plex Sans" pitchFamily="34" charset="0"/>
                <a:ea typeface="IBM Plex Sans" pitchFamily="34" charset="-122"/>
                <a:cs typeface="IBM Plex Sans" pitchFamily="34" charset="-120"/>
              </a:rPr>
              <a:t>Master of Data Analytics · Guide: Prof. Shivapradeep Muthupandi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3DD9EB"/>
                </a:solidFill>
                <a:latin typeface="JetBrains Mono" pitchFamily="49" charset="0"/>
                <a:ea typeface="JetBrains Mono" pitchFamily="49" charset="-122"/>
                <a:cs typeface="JetBrains Mono" pitchFamily="49" charset="-120"/>
              </a:rPr>
              <a:t>THE PROBLEM</a:t>
            </a:r>
            <a:endParaRPr lang="en-US" sz="1300" dirty="0"/>
          </a:p>
        </p:txBody>
      </p:sp>
      <p:sp>
        <p:nvSpPr>
          <p:cNvPr id="3" name="Text 1"/>
          <p:cNvSpPr/>
          <p:nvPr>
            <p:ph type="title"/>
          </p:nvPr>
        </p:nvSpPr>
        <p:spPr>
          <a:xfrm>
            <a:off x="812800" y="11200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EEF2F8"/>
                </a:solidFill>
                <a:latin typeface="Space Grotesk" pitchFamily="34" charset="0"/>
                <a:ea typeface="Space Grotesk" pitchFamily="34" charset="-122"/>
                <a:cs typeface="Space Grotesk" pitchFamily="34" charset="-120"/>
              </a:rPr>
              <a:t>Every developer asks the same three questions</a:t>
            </a:r>
            <a:endParaRPr lang="en-US" sz="3200" dirty="0"/>
          </a:p>
        </p:txBody>
      </p:sp>
      <p:sp>
        <p:nvSpPr>
          <p:cNvPr id="4" name="Shape 2"/>
          <p:cNvSpPr/>
          <p:nvPr/>
        </p:nvSpPr>
        <p:spPr>
          <a:xfrm>
            <a:off x="815975" y="1895376"/>
            <a:ext cx="3380284" cy="2342952"/>
          </a:xfrm>
          <a:prstGeom prst="roundRect">
            <a:avLst>
              <a:gd name="adj" fmla="val 5285"/>
            </a:avLst>
          </a:prstGeom>
          <a:solidFill>
            <a:srgbClr val="1A2440"/>
          </a:solidFill>
          <a:ln w="6350">
            <a:solidFill>
              <a:srgbClr val="2A3A63"/>
            </a:solidFill>
            <a:prstDash val="solid"/>
          </a:ln>
        </p:spPr>
      </p:sp>
      <p:pic>
        <p:nvPicPr>
          <p:cNvPr id="5" name="Image 0" descr="Search">    </p:cNvPr>
          <p:cNvPicPr>
            <a:picLocks noChangeAspect="1"/>
          </p:cNvPicPr>
          <p:nvPr/>
        </p:nvPicPr>
        <p:blipFill>
          <a:blip r:embed="rId1"/>
          <a:srcRect l="0" r="0" t="0" b="0"/>
          <a:stretch/>
        </p:blipFill>
        <p:spPr>
          <a:xfrm>
            <a:off x="1073150" y="2152551"/>
            <a:ext cx="406400" cy="406400"/>
          </a:xfrm>
          <a:prstGeom prst="rect">
            <a:avLst/>
          </a:prstGeom>
        </p:spPr>
      </p:pic>
      <p:sp>
        <p:nvSpPr>
          <p:cNvPr id="6" name="Text 3"/>
          <p:cNvSpPr/>
          <p:nvPr/>
        </p:nvSpPr>
        <p:spPr>
          <a:xfrm>
            <a:off x="1073150" y="268595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2F8"/>
                </a:solidFill>
                <a:latin typeface="Space Grotesk" pitchFamily="34" charset="0"/>
                <a:ea typeface="Space Grotesk" pitchFamily="34" charset="-122"/>
                <a:cs typeface="Space Grotesk" pitchFamily="34" charset="-120"/>
              </a:rPr>
              <a:t>Where am I?</a:t>
            </a:r>
            <a:endParaRPr lang="en-US" sz="2200" dirty="0"/>
          </a:p>
        </p:txBody>
      </p:sp>
      <p:sp>
        <p:nvSpPr>
          <p:cNvPr id="7" name="Text 4"/>
          <p:cNvSpPr/>
          <p:nvPr/>
        </p:nvSpPr>
        <p:spPr>
          <a:xfrm>
            <a:off x="1073150" y="3148211"/>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7C2D9"/>
                </a:solidFill>
                <a:latin typeface="IBM Plex Sans" pitchFamily="34" charset="0"/>
                <a:ea typeface="IBM Plex Sans" pitchFamily="34" charset="-122"/>
                <a:cs typeface="IBM Plex Sans" pitchFamily="34" charset="-120"/>
              </a:rPr>
              <a:t>Junior, Mid, Senior or Lead, and what am I worth in the market?</a:t>
            </a:r>
            <a:endParaRPr lang="en-US" sz="1400" dirty="0"/>
          </a:p>
        </p:txBody>
      </p:sp>
      <p:sp>
        <p:nvSpPr>
          <p:cNvPr id="8" name="Shape 5"/>
          <p:cNvSpPr/>
          <p:nvPr/>
        </p:nvSpPr>
        <p:spPr>
          <a:xfrm>
            <a:off x="4405809" y="1895376"/>
            <a:ext cx="3380383" cy="2342952"/>
          </a:xfrm>
          <a:prstGeom prst="roundRect">
            <a:avLst>
              <a:gd name="adj" fmla="val 5285"/>
            </a:avLst>
          </a:prstGeom>
          <a:solidFill>
            <a:srgbClr val="1A2440"/>
          </a:solidFill>
          <a:ln w="6350">
            <a:solidFill>
              <a:srgbClr val="2A3A63"/>
            </a:solidFill>
            <a:prstDash val="solid"/>
          </a:ln>
        </p:spPr>
      </p:sp>
      <p:pic>
        <p:nvPicPr>
          <p:cNvPr id="9" name="Image 1" descr="Clock">    </p:cNvPr>
          <p:cNvPicPr>
            <a:picLocks noChangeAspect="1"/>
          </p:cNvPicPr>
          <p:nvPr/>
        </p:nvPicPr>
        <p:blipFill>
          <a:blip r:embed="rId2"/>
          <a:srcRect l="0" r="0" t="0" b="0"/>
          <a:stretch/>
        </p:blipFill>
        <p:spPr>
          <a:xfrm>
            <a:off x="4662984" y="2152551"/>
            <a:ext cx="406400" cy="406400"/>
          </a:xfrm>
          <a:prstGeom prst="rect">
            <a:avLst/>
          </a:prstGeom>
        </p:spPr>
      </p:pic>
      <p:sp>
        <p:nvSpPr>
          <p:cNvPr id="10" name="Text 6"/>
          <p:cNvSpPr/>
          <p:nvPr/>
        </p:nvSpPr>
        <p:spPr>
          <a:xfrm>
            <a:off x="4662984" y="2685951"/>
            <a:ext cx="2952014"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2F8"/>
                </a:solidFill>
                <a:latin typeface="Space Grotesk" pitchFamily="34" charset="0"/>
                <a:ea typeface="Space Grotesk" pitchFamily="34" charset="-122"/>
                <a:cs typeface="Space Grotesk" pitchFamily="34" charset="-120"/>
              </a:rPr>
              <a:t>How long to my goal?</a:t>
            </a:r>
            <a:endParaRPr lang="en-US" sz="2200" dirty="0"/>
          </a:p>
        </p:txBody>
      </p:sp>
      <p:sp>
        <p:nvSpPr>
          <p:cNvPr id="11" name="Text 7"/>
          <p:cNvSpPr/>
          <p:nvPr/>
        </p:nvSpPr>
        <p:spPr>
          <a:xfrm>
            <a:off x="4662984" y="3483471"/>
            <a:ext cx="295201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7C2D9"/>
                </a:solidFill>
                <a:latin typeface="IBM Plex Sans" pitchFamily="34" charset="0"/>
                <a:ea typeface="IBM Plex Sans" pitchFamily="34" charset="-122"/>
                <a:cs typeface="IBM Plex Sans" pitchFamily="34" charset="-120"/>
              </a:rPr>
              <a:t>At 10 hours a week, when do I reach Senior or my target salary?</a:t>
            </a:r>
            <a:endParaRPr lang="en-US" sz="1400" dirty="0"/>
          </a:p>
        </p:txBody>
      </p:sp>
      <p:sp>
        <p:nvSpPr>
          <p:cNvPr id="12" name="Shape 8"/>
          <p:cNvSpPr/>
          <p:nvPr/>
        </p:nvSpPr>
        <p:spPr>
          <a:xfrm>
            <a:off x="7995741" y="1895376"/>
            <a:ext cx="3380284" cy="2342952"/>
          </a:xfrm>
          <a:prstGeom prst="roundRect">
            <a:avLst>
              <a:gd name="adj" fmla="val 5285"/>
            </a:avLst>
          </a:prstGeom>
          <a:solidFill>
            <a:srgbClr val="1A2440"/>
          </a:solidFill>
          <a:ln w="6350">
            <a:solidFill>
              <a:srgbClr val="2A3A63"/>
            </a:solidFill>
            <a:prstDash val="solid"/>
          </a:ln>
        </p:spPr>
      </p:sp>
      <p:pic>
        <p:nvPicPr>
          <p:cNvPr id="13" name="Image 2" descr="Lightbulb">    </p:cNvPr>
          <p:cNvPicPr>
            <a:picLocks noChangeAspect="1"/>
          </p:cNvPicPr>
          <p:nvPr/>
        </p:nvPicPr>
        <p:blipFill>
          <a:blip r:embed="rId3"/>
          <a:srcRect l="0" r="0" t="0" b="0"/>
          <a:stretch/>
        </p:blipFill>
        <p:spPr>
          <a:xfrm>
            <a:off x="8252916" y="2152551"/>
            <a:ext cx="406400" cy="406400"/>
          </a:xfrm>
          <a:prstGeom prst="rect">
            <a:avLst/>
          </a:prstGeom>
        </p:spPr>
      </p:pic>
      <p:sp>
        <p:nvSpPr>
          <p:cNvPr id="14" name="Text 9"/>
          <p:cNvSpPr/>
          <p:nvPr/>
        </p:nvSpPr>
        <p:spPr>
          <a:xfrm>
            <a:off x="8252916" y="2685951"/>
            <a:ext cx="2951912"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2F8"/>
                </a:solidFill>
                <a:latin typeface="Space Grotesk" pitchFamily="34" charset="0"/>
                <a:ea typeface="Space Grotesk" pitchFamily="34" charset="-122"/>
                <a:cs typeface="Space Grotesk" pitchFamily="34" charset="-120"/>
              </a:rPr>
              <a:t>What should I learn next?</a:t>
            </a:r>
            <a:endParaRPr lang="en-US" sz="2200" dirty="0"/>
          </a:p>
        </p:txBody>
      </p:sp>
      <p:sp>
        <p:nvSpPr>
          <p:cNvPr id="15" name="Text 10"/>
          <p:cNvSpPr/>
          <p:nvPr/>
        </p:nvSpPr>
        <p:spPr>
          <a:xfrm>
            <a:off x="8252916" y="3483471"/>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7C2D9"/>
                </a:solidFill>
                <a:latin typeface="IBM Plex Sans" pitchFamily="34" charset="0"/>
                <a:ea typeface="IBM Plex Sans" pitchFamily="34" charset="-122"/>
                <a:cs typeface="IBM Plex Sans" pitchFamily="34" charset="-120"/>
              </a:rPr>
              <a:t>Which skills actually move my level and pay?</a:t>
            </a:r>
            <a:endParaRPr lang="en-US" sz="1400" dirty="0"/>
          </a:p>
        </p:txBody>
      </p:sp>
      <p:sp>
        <p:nvSpPr>
          <p:cNvPr id="16" name="Text 11"/>
          <p:cNvSpPr/>
          <p:nvPr/>
        </p:nvSpPr>
        <p:spPr>
          <a:xfrm>
            <a:off x="812800" y="4546302"/>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2D9"/>
                </a:solidFill>
                <a:latin typeface="IBM Plex Sans" pitchFamily="34" charset="0"/>
                <a:ea typeface="IBM Plex Sans" pitchFamily="34" charset="-122"/>
                <a:cs typeface="IBM Plex Sans" pitchFamily="34" charset="-120"/>
              </a:rPr>
              <a:t>Juniors especially don’t know what they don’t know: </a:t>
            </a:r>
            <a:r>
              <a:rPr lang="en-US" sz="1600" dirty="0">
                <a:solidFill>
                  <a:srgbClr val="3DD9EB"/>
                </a:solidFill>
                <a:latin typeface="IBM Plex Sans" pitchFamily="34" charset="0"/>
                <a:ea typeface="IBM Plex Sans" pitchFamily="34" charset="-122"/>
                <a:cs typeface="IBM Plex Sans" pitchFamily="34" charset="-120"/>
              </a:rPr>
              <a:t>validation, Git workflow, testing, system design, AI tools</a:t>
            </a:r>
            <a:r>
              <a:rPr lang="en-US" sz="1600" dirty="0">
                <a:solidFill>
                  <a:srgbClr val="B7C2D9"/>
                </a:solidFill>
                <a:latin typeface="IBM Plex Sans" pitchFamily="34" charset="0"/>
                <a:ea typeface="IBM Plex Sans" pitchFamily="34" charset="-122"/>
                <a:cs typeface="IBM Plex Sans" pitchFamily="34" charset="-120"/>
              </a:rPr>
              <a:t> are usually learned only at the first job.</a:t>
            </a:r>
            <a:endParaRPr lang="en-US" sz="1600" dirty="0"/>
          </a:p>
        </p:txBody>
      </p:sp>
      <p:sp>
        <p:nvSpPr>
          <p:cNvPr id="17"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6"/>
                </a:solidFill>
                <a:latin typeface="JetBrains Mono" pitchFamily="49" charset="0"/>
                <a:ea typeface="JetBrains Mono" pitchFamily="49" charset="-122"/>
                <a:cs typeface="JetBrains Mono" pitchFamily="49" charset="-120"/>
              </a:rPr>
              <a:t>DevAscend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A3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3DD9EB"/>
                </a:solidFill>
                <a:latin typeface="JetBrains Mono" pitchFamily="49" charset="0"/>
                <a:ea typeface="JetBrains Mono" pitchFamily="49" charset="-122"/>
                <a:cs typeface="JetBrains Mono" pitchFamily="49" charset="-120"/>
              </a:rPr>
              <a:t>THE SOLUTION</a:t>
            </a:r>
            <a:endParaRPr lang="en-US" sz="1300" dirty="0"/>
          </a:p>
        </p:txBody>
      </p:sp>
      <p:sp>
        <p:nvSpPr>
          <p:cNvPr id="3" name="Text 1"/>
          <p:cNvSpPr/>
          <p:nvPr>
            <p:ph type="title"/>
          </p:nvPr>
        </p:nvSpPr>
        <p:spPr>
          <a:xfrm>
            <a:off x="812800" y="1120080"/>
            <a:ext cx="1137920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EEF2F8"/>
                </a:solidFill>
                <a:latin typeface="Space Grotesk" pitchFamily="34" charset="0"/>
                <a:ea typeface="Space Grotesk" pitchFamily="34" charset="-122"/>
                <a:cs typeface="Space Grotesk" pitchFamily="34" charset="-120"/>
              </a:rPr>
              <a:t>You enter a profile, DevAscend predicts your growth</a:t>
            </a:r>
            <a:endParaRPr lang="en-US" sz="3200" dirty="0"/>
          </a:p>
        </p:txBody>
      </p:sp>
      <p:sp>
        <p:nvSpPr>
          <p:cNvPr id="4" name="Shape 2"/>
          <p:cNvSpPr/>
          <p:nvPr/>
        </p:nvSpPr>
        <p:spPr>
          <a:xfrm>
            <a:off x="815975" y="1844576"/>
            <a:ext cx="3295650" cy="2757091"/>
          </a:xfrm>
          <a:prstGeom prst="roundRect">
            <a:avLst>
              <a:gd name="adj" fmla="val 4491"/>
            </a:avLst>
          </a:prstGeom>
          <a:solidFill>
            <a:srgbClr val="1A2440"/>
          </a:solidFill>
          <a:ln w="6350">
            <a:solidFill>
              <a:srgbClr val="2A3A63"/>
            </a:solidFill>
            <a:prstDash val="solid"/>
          </a:ln>
        </p:spPr>
      </p:sp>
      <p:sp>
        <p:nvSpPr>
          <p:cNvPr id="5" name="Text 3"/>
          <p:cNvSpPr/>
          <p:nvPr/>
        </p:nvSpPr>
        <p:spPr>
          <a:xfrm>
            <a:off x="1073150" y="2101751"/>
            <a:ext cx="286473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EF2F8"/>
                </a:solidFill>
                <a:latin typeface="Space Grotesk" pitchFamily="34" charset="0"/>
                <a:ea typeface="Space Grotesk" pitchFamily="34" charset="-122"/>
                <a:cs typeface="Space Grotesk" pitchFamily="34" charset="-120"/>
              </a:rPr>
              <a:t>Inputs</a:t>
            </a:r>
            <a:endParaRPr lang="en-US" sz="1800" dirty="0"/>
          </a:p>
        </p:txBody>
      </p:sp>
      <p:sp>
        <p:nvSpPr>
          <p:cNvPr id="6" name="Text 4"/>
          <p:cNvSpPr/>
          <p:nvPr/>
        </p:nvSpPr>
        <p:spPr>
          <a:xfrm>
            <a:off x="1151382" y="2477591"/>
            <a:ext cx="2778887" cy="18923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B7C2D9"/>
                </a:solidFill>
                <a:latin typeface="IBM Plex Sans" pitchFamily="34" charset="0"/>
                <a:ea typeface="IBM Plex Sans" pitchFamily="34" charset="-122"/>
                <a:cs typeface="IBM Plex Sans" pitchFamily="34" charset="-120"/>
              </a:rPr>
              <a:t>Years coding and years professional</a:t>
            </a:r>
            <a:endParaRPr lang="en-US" sz="1400" dirty="0"/>
          </a:p>
          <a:p>
            <a:pPr algn="l" marL="175768" indent="-175768">
              <a:lnSpc>
                <a:spcPts val="2100"/>
              </a:lnSpc>
              <a:buSzPct val="100000"/>
              <a:buChar char="•"/>
            </a:pPr>
            <a:r>
              <a:rPr lang="en-US" sz="1400" dirty="0">
                <a:solidFill>
                  <a:srgbClr val="B7C2D9"/>
                </a:solidFill>
                <a:latin typeface="IBM Plex Sans" pitchFamily="34" charset="0"/>
                <a:ea typeface="IBM Plex Sans" pitchFamily="34" charset="-122"/>
                <a:cs typeface="IBM Plex Sans" pitchFamily="34" charset="-120"/>
              </a:rPr>
              <a:t>Main role</a:t>
            </a:r>
            <a:endParaRPr lang="en-US" sz="1400" dirty="0"/>
          </a:p>
          <a:p>
            <a:pPr algn="l" marL="175768" indent="-175768">
              <a:lnSpc>
                <a:spcPts val="2100"/>
              </a:lnSpc>
              <a:buSzPct val="100000"/>
              <a:buChar char="•"/>
            </a:pPr>
            <a:r>
              <a:rPr lang="en-US" sz="1400" dirty="0">
                <a:solidFill>
                  <a:srgbClr val="B7C2D9"/>
                </a:solidFill>
                <a:latin typeface="IBM Plex Sans" pitchFamily="34" charset="0"/>
                <a:ea typeface="IBM Plex Sans" pitchFamily="34" charset="-122"/>
                <a:cs typeface="IBM Plex Sans" pitchFamily="34" charset="-120"/>
              </a:rPr>
              <a:t>Skills (or fetch from GitHub)</a:t>
            </a:r>
            <a:endParaRPr lang="en-US" sz="1400" dirty="0"/>
          </a:p>
          <a:p>
            <a:pPr algn="l" marL="175768" indent="-175768">
              <a:lnSpc>
                <a:spcPts val="2100"/>
              </a:lnSpc>
              <a:buSzPct val="100000"/>
              <a:buChar char="•"/>
            </a:pPr>
            <a:r>
              <a:rPr lang="en-US" sz="1400" dirty="0">
                <a:solidFill>
                  <a:srgbClr val="B7C2D9"/>
                </a:solidFill>
                <a:latin typeface="IBM Plex Sans" pitchFamily="34" charset="0"/>
                <a:ea typeface="IBM Plex Sans" pitchFamily="34" charset="-122"/>
                <a:cs typeface="IBM Plex Sans" pitchFamily="34" charset="-120"/>
              </a:rPr>
              <a:t>Education and country</a:t>
            </a:r>
            <a:endParaRPr lang="en-US" sz="1400" dirty="0"/>
          </a:p>
          <a:p>
            <a:pPr algn="l" marL="175768" indent="-175768">
              <a:lnSpc>
                <a:spcPts val="2100"/>
              </a:lnSpc>
              <a:buSzPct val="100000"/>
              <a:buChar char="•"/>
            </a:pPr>
            <a:r>
              <a:rPr lang="en-US" sz="1400" dirty="0">
                <a:solidFill>
                  <a:srgbClr val="B7C2D9"/>
                </a:solidFill>
                <a:latin typeface="IBM Plex Sans" pitchFamily="34" charset="0"/>
                <a:ea typeface="IBM Plex Sans" pitchFamily="34" charset="-122"/>
                <a:cs typeface="IBM Plex Sans" pitchFamily="34" charset="-120"/>
              </a:rPr>
              <a:t>Study hours per week</a:t>
            </a:r>
            <a:endParaRPr lang="en-US" sz="1400" dirty="0"/>
          </a:p>
          <a:p>
            <a:pPr algn="l" marL="175768" indent="-175768">
              <a:lnSpc>
                <a:spcPts val="2100"/>
              </a:lnSpc>
              <a:buSzPct val="100000"/>
              <a:buChar char="•"/>
            </a:pPr>
            <a:r>
              <a:rPr lang="en-US" sz="1400" dirty="0">
                <a:solidFill>
                  <a:srgbClr val="B7C2D9"/>
                </a:solidFill>
                <a:latin typeface="IBM Plex Sans" pitchFamily="34" charset="0"/>
                <a:ea typeface="IBM Plex Sans" pitchFamily="34" charset="-122"/>
                <a:cs typeface="IBM Plex Sans" pitchFamily="34" charset="-120"/>
              </a:rPr>
              <a:t>Goal: a level or a salary</a:t>
            </a:r>
            <a:endParaRPr lang="en-US" sz="1400" dirty="0"/>
          </a:p>
        </p:txBody>
      </p:sp>
      <p:sp>
        <p:nvSpPr>
          <p:cNvPr id="7" name="Shape 5"/>
          <p:cNvSpPr/>
          <p:nvPr/>
        </p:nvSpPr>
        <p:spPr>
          <a:xfrm>
            <a:off x="4321175" y="1844576"/>
            <a:ext cx="2279650" cy="824111"/>
          </a:xfrm>
          <a:prstGeom prst="roundRect">
            <a:avLst>
              <a:gd name="adj" fmla="val 11943"/>
            </a:avLst>
          </a:prstGeom>
          <a:solidFill>
            <a:srgbClr val="1A2440"/>
          </a:solidFill>
          <a:ln w="6350">
            <a:solidFill>
              <a:srgbClr val="2A3A63"/>
            </a:solidFill>
            <a:prstDash val="solid"/>
          </a:ln>
        </p:spPr>
      </p:sp>
      <p:sp>
        <p:nvSpPr>
          <p:cNvPr id="8" name="Text 6"/>
          <p:cNvSpPr/>
          <p:nvPr/>
        </p:nvSpPr>
        <p:spPr>
          <a:xfrm>
            <a:off x="4476750" y="2000151"/>
            <a:ext cx="202755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D9EB"/>
                </a:solidFill>
                <a:latin typeface="IBM Plex Sans" pitchFamily="34" charset="0"/>
                <a:ea typeface="IBM Plex Sans" pitchFamily="34" charset="-122"/>
                <a:cs typeface="IBM Plex Sans" pitchFamily="34" charset="-120"/>
              </a:rPr>
              <a:t>Level + score</a:t>
            </a:r>
            <a:endParaRPr lang="en-US" sz="1400" dirty="0"/>
          </a:p>
        </p:txBody>
      </p:sp>
      <p:sp>
        <p:nvSpPr>
          <p:cNvPr id="9" name="Text 7"/>
          <p:cNvSpPr/>
          <p:nvPr/>
        </p:nvSpPr>
        <p:spPr>
          <a:xfrm>
            <a:off x="4476750" y="229979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Junior to Lead, 0–100</a:t>
            </a:r>
            <a:endParaRPr lang="en-US" sz="1200" dirty="0"/>
          </a:p>
        </p:txBody>
      </p:sp>
      <p:sp>
        <p:nvSpPr>
          <p:cNvPr id="10" name="Shape 8"/>
          <p:cNvSpPr/>
          <p:nvPr/>
        </p:nvSpPr>
        <p:spPr>
          <a:xfrm>
            <a:off x="6708775" y="1844576"/>
            <a:ext cx="2279650" cy="824111"/>
          </a:xfrm>
          <a:prstGeom prst="roundRect">
            <a:avLst>
              <a:gd name="adj" fmla="val 11943"/>
            </a:avLst>
          </a:prstGeom>
          <a:solidFill>
            <a:srgbClr val="1A2440"/>
          </a:solidFill>
          <a:ln w="6350">
            <a:solidFill>
              <a:srgbClr val="2A3A63"/>
            </a:solidFill>
            <a:prstDash val="solid"/>
          </a:ln>
        </p:spPr>
      </p:sp>
      <p:sp>
        <p:nvSpPr>
          <p:cNvPr id="11" name="Text 9"/>
          <p:cNvSpPr/>
          <p:nvPr/>
        </p:nvSpPr>
        <p:spPr>
          <a:xfrm>
            <a:off x="6864350" y="2000151"/>
            <a:ext cx="202755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D9EB"/>
                </a:solidFill>
                <a:latin typeface="IBM Plex Sans" pitchFamily="34" charset="0"/>
                <a:ea typeface="IBM Plex Sans" pitchFamily="34" charset="-122"/>
                <a:cs typeface="IBM Plex Sans" pitchFamily="34" charset="-120"/>
              </a:rPr>
              <a:t>Market value</a:t>
            </a:r>
            <a:endParaRPr lang="en-US" sz="1400" dirty="0"/>
          </a:p>
        </p:txBody>
      </p:sp>
      <p:sp>
        <p:nvSpPr>
          <p:cNvPr id="12" name="Text 10"/>
          <p:cNvSpPr/>
          <p:nvPr/>
        </p:nvSpPr>
        <p:spPr>
          <a:xfrm>
            <a:off x="6864350" y="229979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with a likely range</a:t>
            </a:r>
            <a:endParaRPr lang="en-US" sz="1200" dirty="0"/>
          </a:p>
        </p:txBody>
      </p:sp>
      <p:sp>
        <p:nvSpPr>
          <p:cNvPr id="13" name="Shape 11"/>
          <p:cNvSpPr/>
          <p:nvPr/>
        </p:nvSpPr>
        <p:spPr>
          <a:xfrm>
            <a:off x="9096375" y="1844576"/>
            <a:ext cx="2279650" cy="824111"/>
          </a:xfrm>
          <a:prstGeom prst="roundRect">
            <a:avLst>
              <a:gd name="adj" fmla="val 11943"/>
            </a:avLst>
          </a:prstGeom>
          <a:solidFill>
            <a:srgbClr val="1A2440"/>
          </a:solidFill>
          <a:ln w="6350">
            <a:solidFill>
              <a:srgbClr val="2A3A63"/>
            </a:solidFill>
            <a:prstDash val="solid"/>
          </a:ln>
        </p:spPr>
      </p:sp>
      <p:sp>
        <p:nvSpPr>
          <p:cNvPr id="14" name="Text 12"/>
          <p:cNvSpPr/>
          <p:nvPr/>
        </p:nvSpPr>
        <p:spPr>
          <a:xfrm>
            <a:off x="9251950" y="2000151"/>
            <a:ext cx="202755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D9EB"/>
                </a:solidFill>
                <a:latin typeface="IBM Plex Sans" pitchFamily="34" charset="0"/>
                <a:ea typeface="IBM Plex Sans" pitchFamily="34" charset="-122"/>
                <a:cs typeface="IBM Plex Sans" pitchFamily="34" charset="-120"/>
              </a:rPr>
              <a:t>Growth curve</a:t>
            </a:r>
            <a:endParaRPr lang="en-US" sz="1400" dirty="0"/>
          </a:p>
        </p:txBody>
      </p:sp>
      <p:sp>
        <p:nvSpPr>
          <p:cNvPr id="15" name="Text 13"/>
          <p:cNvSpPr/>
          <p:nvPr/>
        </p:nvSpPr>
        <p:spPr>
          <a:xfrm>
            <a:off x="9251950" y="229979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6 months to 3 years</a:t>
            </a:r>
            <a:endParaRPr lang="en-US" sz="1200" dirty="0"/>
          </a:p>
        </p:txBody>
      </p:sp>
      <p:sp>
        <p:nvSpPr>
          <p:cNvPr id="16" name="Shape 14"/>
          <p:cNvSpPr/>
          <p:nvPr/>
        </p:nvSpPr>
        <p:spPr>
          <a:xfrm>
            <a:off x="4321175" y="2776637"/>
            <a:ext cx="2279650" cy="824111"/>
          </a:xfrm>
          <a:prstGeom prst="roundRect">
            <a:avLst>
              <a:gd name="adj" fmla="val 11943"/>
            </a:avLst>
          </a:prstGeom>
          <a:solidFill>
            <a:srgbClr val="1A2440"/>
          </a:solidFill>
          <a:ln w="6350">
            <a:solidFill>
              <a:srgbClr val="2A3A63"/>
            </a:solidFill>
            <a:prstDash val="solid"/>
          </a:ln>
        </p:spPr>
      </p:sp>
      <p:sp>
        <p:nvSpPr>
          <p:cNvPr id="17" name="Text 15"/>
          <p:cNvSpPr/>
          <p:nvPr/>
        </p:nvSpPr>
        <p:spPr>
          <a:xfrm>
            <a:off x="4476750" y="2932212"/>
            <a:ext cx="202755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D9EB"/>
                </a:solidFill>
                <a:latin typeface="IBM Plex Sans" pitchFamily="34" charset="0"/>
                <a:ea typeface="IBM Plex Sans" pitchFamily="34" charset="-122"/>
                <a:cs typeface="IBM Plex Sans" pitchFamily="34" charset="-120"/>
              </a:rPr>
              <a:t>Time to goal</a:t>
            </a:r>
            <a:endParaRPr lang="en-US" sz="1400" dirty="0"/>
          </a:p>
        </p:txBody>
      </p:sp>
      <p:sp>
        <p:nvSpPr>
          <p:cNvPr id="18" name="Text 16"/>
          <p:cNvSpPr/>
          <p:nvPr/>
        </p:nvSpPr>
        <p:spPr>
          <a:xfrm>
            <a:off x="4476750" y="3231852"/>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with vs without learning</a:t>
            </a:r>
            <a:endParaRPr lang="en-US" sz="1200" dirty="0"/>
          </a:p>
        </p:txBody>
      </p:sp>
      <p:sp>
        <p:nvSpPr>
          <p:cNvPr id="19" name="Shape 17"/>
          <p:cNvSpPr/>
          <p:nvPr/>
        </p:nvSpPr>
        <p:spPr>
          <a:xfrm>
            <a:off x="6708775" y="2776637"/>
            <a:ext cx="2279650" cy="824111"/>
          </a:xfrm>
          <a:prstGeom prst="roundRect">
            <a:avLst>
              <a:gd name="adj" fmla="val 11943"/>
            </a:avLst>
          </a:prstGeom>
          <a:solidFill>
            <a:srgbClr val="1A2440"/>
          </a:solidFill>
          <a:ln w="6350">
            <a:solidFill>
              <a:srgbClr val="2A3A63"/>
            </a:solidFill>
            <a:prstDash val="solid"/>
          </a:ln>
        </p:spPr>
      </p:sp>
      <p:sp>
        <p:nvSpPr>
          <p:cNvPr id="20" name="Text 18"/>
          <p:cNvSpPr/>
          <p:nvPr/>
        </p:nvSpPr>
        <p:spPr>
          <a:xfrm>
            <a:off x="6864350" y="2932212"/>
            <a:ext cx="202755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D9EB"/>
                </a:solidFill>
                <a:latin typeface="IBM Plex Sans" pitchFamily="34" charset="0"/>
                <a:ea typeface="IBM Plex Sans" pitchFamily="34" charset="-122"/>
                <a:cs typeface="IBM Plex Sans" pitchFamily="34" charset="-120"/>
              </a:rPr>
              <a:t>Skill gaps</a:t>
            </a:r>
            <a:endParaRPr lang="en-US" sz="1400" dirty="0"/>
          </a:p>
        </p:txBody>
      </p:sp>
      <p:sp>
        <p:nvSpPr>
          <p:cNvPr id="21" name="Text 19"/>
          <p:cNvSpPr/>
          <p:nvPr/>
        </p:nvSpPr>
        <p:spPr>
          <a:xfrm>
            <a:off x="6864350" y="3231852"/>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vs higher-level devs</a:t>
            </a:r>
            <a:endParaRPr lang="en-US" sz="1200" dirty="0"/>
          </a:p>
        </p:txBody>
      </p:sp>
      <p:sp>
        <p:nvSpPr>
          <p:cNvPr id="22" name="Shape 20"/>
          <p:cNvSpPr/>
          <p:nvPr/>
        </p:nvSpPr>
        <p:spPr>
          <a:xfrm>
            <a:off x="9096375" y="2776637"/>
            <a:ext cx="2279650" cy="824111"/>
          </a:xfrm>
          <a:prstGeom prst="roundRect">
            <a:avLst>
              <a:gd name="adj" fmla="val 11943"/>
            </a:avLst>
          </a:prstGeom>
          <a:solidFill>
            <a:srgbClr val="1A2440"/>
          </a:solidFill>
          <a:ln w="6350">
            <a:solidFill>
              <a:srgbClr val="2A3A63"/>
            </a:solidFill>
            <a:prstDash val="solid"/>
          </a:ln>
        </p:spPr>
      </p:sp>
      <p:sp>
        <p:nvSpPr>
          <p:cNvPr id="23" name="Text 21"/>
          <p:cNvSpPr/>
          <p:nvPr/>
        </p:nvSpPr>
        <p:spPr>
          <a:xfrm>
            <a:off x="9251950" y="2932212"/>
            <a:ext cx="202755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D9EB"/>
                </a:solidFill>
                <a:latin typeface="IBM Plex Sans" pitchFamily="34" charset="0"/>
                <a:ea typeface="IBM Plex Sans" pitchFamily="34" charset="-122"/>
                <a:cs typeface="IBM Plex Sans" pitchFamily="34" charset="-120"/>
              </a:rPr>
              <a:t>What-if boosts</a:t>
            </a:r>
            <a:endParaRPr lang="en-US" sz="1400" dirty="0"/>
          </a:p>
        </p:txBody>
      </p:sp>
      <p:sp>
        <p:nvSpPr>
          <p:cNvPr id="24" name="Text 22"/>
          <p:cNvSpPr/>
          <p:nvPr/>
        </p:nvSpPr>
        <p:spPr>
          <a:xfrm>
            <a:off x="9251950" y="3231852"/>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 value per skill</a:t>
            </a:r>
            <a:endParaRPr lang="en-US" sz="1200" dirty="0"/>
          </a:p>
        </p:txBody>
      </p:sp>
      <p:sp>
        <p:nvSpPr>
          <p:cNvPr id="25" name="Shape 23"/>
          <p:cNvSpPr/>
          <p:nvPr/>
        </p:nvSpPr>
        <p:spPr>
          <a:xfrm>
            <a:off x="4321175" y="3708698"/>
            <a:ext cx="2279650" cy="824111"/>
          </a:xfrm>
          <a:prstGeom prst="roundRect">
            <a:avLst>
              <a:gd name="adj" fmla="val 11943"/>
            </a:avLst>
          </a:prstGeom>
          <a:solidFill>
            <a:srgbClr val="1A2440"/>
          </a:solidFill>
          <a:ln w="6350">
            <a:solidFill>
              <a:srgbClr val="2A3A63"/>
            </a:solidFill>
            <a:prstDash val="solid"/>
          </a:ln>
        </p:spPr>
      </p:sp>
      <p:sp>
        <p:nvSpPr>
          <p:cNvPr id="26" name="Text 24"/>
          <p:cNvSpPr/>
          <p:nvPr/>
        </p:nvSpPr>
        <p:spPr>
          <a:xfrm>
            <a:off x="4476750" y="3864273"/>
            <a:ext cx="202755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B8CFF"/>
                </a:solidFill>
                <a:latin typeface="IBM Plex Sans" pitchFamily="34" charset="0"/>
                <a:ea typeface="IBM Plex Sans" pitchFamily="34" charset="-122"/>
                <a:cs typeface="IBM Plex Sans" pitchFamily="34" charset="-120"/>
              </a:rPr>
              <a:t>Learning guide</a:t>
            </a:r>
            <a:endParaRPr lang="en-US" sz="1400" dirty="0"/>
          </a:p>
        </p:txBody>
      </p:sp>
      <p:sp>
        <p:nvSpPr>
          <p:cNvPr id="27" name="Text 25"/>
          <p:cNvSpPr/>
          <p:nvPr/>
        </p:nvSpPr>
        <p:spPr>
          <a:xfrm>
            <a:off x="4476750" y="4163913"/>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e.g. HTML/CSS → Tailwind</a:t>
            </a:r>
            <a:endParaRPr lang="en-US" sz="1200" dirty="0"/>
          </a:p>
        </p:txBody>
      </p:sp>
      <p:sp>
        <p:nvSpPr>
          <p:cNvPr id="28" name="Shape 26"/>
          <p:cNvSpPr/>
          <p:nvPr/>
        </p:nvSpPr>
        <p:spPr>
          <a:xfrm>
            <a:off x="6708775" y="3708698"/>
            <a:ext cx="2279650" cy="824111"/>
          </a:xfrm>
          <a:prstGeom prst="roundRect">
            <a:avLst>
              <a:gd name="adj" fmla="val 11943"/>
            </a:avLst>
          </a:prstGeom>
          <a:solidFill>
            <a:srgbClr val="1A2440"/>
          </a:solidFill>
          <a:ln w="6350">
            <a:solidFill>
              <a:srgbClr val="2A3A63"/>
            </a:solidFill>
            <a:prstDash val="solid"/>
          </a:ln>
        </p:spPr>
      </p:sp>
      <p:sp>
        <p:nvSpPr>
          <p:cNvPr id="29" name="Text 27"/>
          <p:cNvSpPr/>
          <p:nvPr/>
        </p:nvSpPr>
        <p:spPr>
          <a:xfrm>
            <a:off x="6864350" y="3864273"/>
            <a:ext cx="202755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B8CFF"/>
                </a:solidFill>
                <a:latin typeface="IBM Plex Sans" pitchFamily="34" charset="0"/>
                <a:ea typeface="IBM Plex Sans" pitchFamily="34" charset="-122"/>
                <a:cs typeface="IBM Plex Sans" pitchFamily="34" charset="-120"/>
              </a:rPr>
              <a:t>Roadmap</a:t>
            </a:r>
            <a:endParaRPr lang="en-US" sz="1400" dirty="0"/>
          </a:p>
        </p:txBody>
      </p:sp>
      <p:sp>
        <p:nvSpPr>
          <p:cNvPr id="30" name="Text 28"/>
          <p:cNvSpPr/>
          <p:nvPr/>
        </p:nvSpPr>
        <p:spPr>
          <a:xfrm>
            <a:off x="6864350" y="4163913"/>
            <a:ext cx="2120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month by month + free links</a:t>
            </a:r>
            <a:endParaRPr lang="en-US" sz="1200" dirty="0"/>
          </a:p>
        </p:txBody>
      </p:sp>
      <p:sp>
        <p:nvSpPr>
          <p:cNvPr id="31" name="Shape 29"/>
          <p:cNvSpPr/>
          <p:nvPr/>
        </p:nvSpPr>
        <p:spPr>
          <a:xfrm>
            <a:off x="9096375" y="3708698"/>
            <a:ext cx="2279650" cy="824111"/>
          </a:xfrm>
          <a:prstGeom prst="roundRect">
            <a:avLst>
              <a:gd name="adj" fmla="val 11943"/>
            </a:avLst>
          </a:prstGeom>
          <a:solidFill>
            <a:srgbClr val="1A2440"/>
          </a:solidFill>
          <a:ln w="6350">
            <a:solidFill>
              <a:srgbClr val="2A3A63"/>
            </a:solidFill>
            <a:prstDash val="solid"/>
          </a:ln>
        </p:spPr>
      </p:sp>
      <p:sp>
        <p:nvSpPr>
          <p:cNvPr id="32" name="Text 30"/>
          <p:cNvSpPr/>
          <p:nvPr/>
        </p:nvSpPr>
        <p:spPr>
          <a:xfrm>
            <a:off x="9251950" y="3864273"/>
            <a:ext cx="202755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B8CFF"/>
                </a:solidFill>
                <a:latin typeface="IBM Plex Sans" pitchFamily="34" charset="0"/>
                <a:ea typeface="IBM Plex Sans" pitchFamily="34" charset="-122"/>
                <a:cs typeface="IBM Plex Sans" pitchFamily="34" charset="-120"/>
              </a:rPr>
              <a:t>Accuracy page</a:t>
            </a:r>
            <a:endParaRPr lang="en-US" sz="1400" dirty="0"/>
          </a:p>
        </p:txBody>
      </p:sp>
      <p:sp>
        <p:nvSpPr>
          <p:cNvPr id="33" name="Text 31"/>
          <p:cNvSpPr/>
          <p:nvPr/>
        </p:nvSpPr>
        <p:spPr>
          <a:xfrm>
            <a:off x="9251950" y="4163913"/>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MAE, RMSE, R², vs actual</a:t>
            </a:r>
            <a:endParaRPr lang="en-US" sz="1200" dirty="0"/>
          </a:p>
        </p:txBody>
      </p:sp>
      <p:sp>
        <p:nvSpPr>
          <p:cNvPr id="34" name="Text 3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6"/>
                </a:solidFill>
                <a:latin typeface="JetBrains Mono" pitchFamily="49" charset="0"/>
                <a:ea typeface="JetBrains Mono" pitchFamily="49" charset="-122"/>
                <a:cs typeface="JetBrains Mono" pitchFamily="49" charset="-120"/>
              </a:rPr>
              <a:t>DevAscend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3DD9EB"/>
                </a:solidFill>
                <a:latin typeface="JetBrains Mono" pitchFamily="49" charset="0"/>
                <a:ea typeface="JetBrains Mono" pitchFamily="49" charset="-122"/>
                <a:cs typeface="JetBrains Mono" pitchFamily="49" charset="-120"/>
              </a:rPr>
              <a:t>THE DATA</a:t>
            </a:r>
            <a:endParaRPr lang="en-US" sz="1300" dirty="0"/>
          </a:p>
        </p:txBody>
      </p:sp>
      <p:sp>
        <p:nvSpPr>
          <p:cNvPr id="3" name="Text 1"/>
          <p:cNvSpPr/>
          <p:nvPr>
            <p:ph type="title"/>
          </p:nvPr>
        </p:nvSpPr>
        <p:spPr>
          <a:xfrm>
            <a:off x="812800" y="11200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EEF2F8"/>
                </a:solidFill>
                <a:latin typeface="Space Grotesk" pitchFamily="34" charset="0"/>
                <a:ea typeface="Space Grotesk" pitchFamily="34" charset="-122"/>
                <a:cs typeface="Space Grotesk" pitchFamily="34" charset="-120"/>
              </a:rPr>
              <a:t>Five years of the Stack Overflow Developer Survey</a:t>
            </a:r>
            <a:endParaRPr lang="en-US" sz="3200" dirty="0"/>
          </a:p>
        </p:txBody>
      </p:sp>
      <p:sp>
        <p:nvSpPr>
          <p:cNvPr id="4" name="Shape 2"/>
          <p:cNvSpPr/>
          <p:nvPr/>
        </p:nvSpPr>
        <p:spPr>
          <a:xfrm>
            <a:off x="815975" y="1895376"/>
            <a:ext cx="2330450" cy="1197471"/>
          </a:xfrm>
          <a:prstGeom prst="roundRect">
            <a:avLst>
              <a:gd name="adj" fmla="val 10341"/>
            </a:avLst>
          </a:prstGeom>
          <a:solidFill>
            <a:srgbClr val="1A2440"/>
          </a:solidFill>
          <a:ln w="6350">
            <a:solidFill>
              <a:srgbClr val="2A3A63"/>
            </a:solidFill>
            <a:prstDash val="solid"/>
          </a:ln>
        </p:spPr>
      </p:sp>
      <p:sp>
        <p:nvSpPr>
          <p:cNvPr id="5" name="Text 3"/>
          <p:cNvSpPr/>
          <p:nvPr/>
        </p:nvSpPr>
        <p:spPr>
          <a:xfrm>
            <a:off x="1022350" y="2101751"/>
            <a:ext cx="1975231"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3DD9EB"/>
                </a:solidFill>
                <a:latin typeface="Space Grotesk" pitchFamily="34" charset="0"/>
                <a:ea typeface="Space Grotesk" pitchFamily="34" charset="-122"/>
                <a:cs typeface="Space Grotesk" pitchFamily="34" charset="-120"/>
              </a:rPr>
              <a:t>360,519</a:t>
            </a:r>
            <a:endParaRPr lang="en-US" sz="3600" dirty="0"/>
          </a:p>
        </p:txBody>
      </p:sp>
      <p:sp>
        <p:nvSpPr>
          <p:cNvPr id="6" name="Text 4"/>
          <p:cNvSpPr/>
          <p:nvPr/>
        </p:nvSpPr>
        <p:spPr>
          <a:xfrm>
            <a:off x="1022350" y="2655391"/>
            <a:ext cx="197523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2D9"/>
                </a:solidFill>
                <a:latin typeface="IBM Plex Sans" pitchFamily="34" charset="0"/>
                <a:ea typeface="IBM Plex Sans" pitchFamily="34" charset="-122"/>
                <a:cs typeface="IBM Plex Sans" pitchFamily="34" charset="-120"/>
              </a:rPr>
              <a:t>raw survey responses</a:t>
            </a:r>
            <a:endParaRPr lang="en-US" sz="1300" dirty="0"/>
          </a:p>
        </p:txBody>
      </p:sp>
      <p:sp>
        <p:nvSpPr>
          <p:cNvPr id="7" name="Shape 5"/>
          <p:cNvSpPr/>
          <p:nvPr/>
        </p:nvSpPr>
        <p:spPr>
          <a:xfrm>
            <a:off x="3305175" y="1895376"/>
            <a:ext cx="2330450" cy="1197471"/>
          </a:xfrm>
          <a:prstGeom prst="roundRect">
            <a:avLst>
              <a:gd name="adj" fmla="val 10341"/>
            </a:avLst>
          </a:prstGeom>
          <a:solidFill>
            <a:srgbClr val="1A2440"/>
          </a:solidFill>
          <a:ln w="6350">
            <a:solidFill>
              <a:srgbClr val="2A3A63"/>
            </a:solidFill>
            <a:prstDash val="solid"/>
          </a:ln>
        </p:spPr>
      </p:sp>
      <p:sp>
        <p:nvSpPr>
          <p:cNvPr id="8" name="Text 6"/>
          <p:cNvSpPr/>
          <p:nvPr/>
        </p:nvSpPr>
        <p:spPr>
          <a:xfrm>
            <a:off x="3511550" y="2101751"/>
            <a:ext cx="1975231"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3DD9EB"/>
                </a:solidFill>
                <a:latin typeface="Space Grotesk" pitchFamily="34" charset="0"/>
                <a:ea typeface="Space Grotesk" pitchFamily="34" charset="-122"/>
                <a:cs typeface="Space Grotesk" pitchFamily="34" charset="-120"/>
              </a:rPr>
              <a:t>153,645</a:t>
            </a:r>
            <a:endParaRPr lang="en-US" sz="3600" dirty="0"/>
          </a:p>
        </p:txBody>
      </p:sp>
      <p:sp>
        <p:nvSpPr>
          <p:cNvPr id="9" name="Text 7"/>
          <p:cNvSpPr/>
          <p:nvPr/>
        </p:nvSpPr>
        <p:spPr>
          <a:xfrm>
            <a:off x="3511550" y="2655391"/>
            <a:ext cx="21209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2D9"/>
                </a:solidFill>
                <a:latin typeface="IBM Plex Sans" pitchFamily="34" charset="0"/>
                <a:ea typeface="IBM Plex Sans" pitchFamily="34" charset="-122"/>
                <a:cs typeface="IBM Plex Sans" pitchFamily="34" charset="-120"/>
              </a:rPr>
              <a:t>developers after cleaning</a:t>
            </a:r>
            <a:endParaRPr lang="en-US" sz="1300" dirty="0"/>
          </a:p>
        </p:txBody>
      </p:sp>
      <p:sp>
        <p:nvSpPr>
          <p:cNvPr id="10" name="Shape 8"/>
          <p:cNvSpPr/>
          <p:nvPr/>
        </p:nvSpPr>
        <p:spPr>
          <a:xfrm>
            <a:off x="815975" y="3251597"/>
            <a:ext cx="2330450" cy="1428552"/>
          </a:xfrm>
          <a:prstGeom prst="roundRect">
            <a:avLst>
              <a:gd name="adj" fmla="val 8668"/>
            </a:avLst>
          </a:prstGeom>
          <a:solidFill>
            <a:srgbClr val="1A2440"/>
          </a:solidFill>
          <a:ln w="6350">
            <a:solidFill>
              <a:srgbClr val="2A3A63"/>
            </a:solidFill>
            <a:prstDash val="solid"/>
          </a:ln>
        </p:spPr>
      </p:sp>
      <p:sp>
        <p:nvSpPr>
          <p:cNvPr id="11" name="Text 9"/>
          <p:cNvSpPr/>
          <p:nvPr/>
        </p:nvSpPr>
        <p:spPr>
          <a:xfrm>
            <a:off x="1022350" y="3457972"/>
            <a:ext cx="212090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9B8CFF"/>
                </a:solidFill>
                <a:latin typeface="Space Grotesk" pitchFamily="34" charset="0"/>
                <a:ea typeface="Space Grotesk" pitchFamily="34" charset="-122"/>
                <a:cs typeface="Space Grotesk" pitchFamily="34" charset="-120"/>
              </a:rPr>
              <a:t>2021–25</a:t>
            </a:r>
            <a:endParaRPr lang="en-US" sz="3600" dirty="0"/>
          </a:p>
        </p:txBody>
      </p:sp>
      <p:sp>
        <p:nvSpPr>
          <p:cNvPr id="12" name="Text 10"/>
          <p:cNvSpPr/>
          <p:nvPr/>
        </p:nvSpPr>
        <p:spPr>
          <a:xfrm>
            <a:off x="1022350" y="4011613"/>
            <a:ext cx="197523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2D9"/>
                </a:solidFill>
                <a:latin typeface="IBM Plex Sans" pitchFamily="34" charset="0"/>
                <a:ea typeface="IBM Plex Sans" pitchFamily="34" charset="-122"/>
                <a:cs typeface="IBM Plex Sans" pitchFamily="34" charset="-120"/>
              </a:rPr>
              <a:t>5 survey years combined</a:t>
            </a:r>
            <a:endParaRPr lang="en-US" sz="1300" dirty="0"/>
          </a:p>
        </p:txBody>
      </p:sp>
      <p:sp>
        <p:nvSpPr>
          <p:cNvPr id="13" name="Shape 11"/>
          <p:cNvSpPr/>
          <p:nvPr/>
        </p:nvSpPr>
        <p:spPr>
          <a:xfrm>
            <a:off x="3305175" y="3251597"/>
            <a:ext cx="2330450" cy="1428552"/>
          </a:xfrm>
          <a:prstGeom prst="roundRect">
            <a:avLst>
              <a:gd name="adj" fmla="val 8668"/>
            </a:avLst>
          </a:prstGeom>
          <a:solidFill>
            <a:srgbClr val="1A2440"/>
          </a:solidFill>
          <a:ln w="6350">
            <a:solidFill>
              <a:srgbClr val="2A3A63"/>
            </a:solidFill>
            <a:prstDash val="solid"/>
          </a:ln>
        </p:spPr>
      </p:sp>
      <p:sp>
        <p:nvSpPr>
          <p:cNvPr id="14" name="Text 12"/>
          <p:cNvSpPr/>
          <p:nvPr/>
        </p:nvSpPr>
        <p:spPr>
          <a:xfrm>
            <a:off x="3511550" y="3457972"/>
            <a:ext cx="1975231"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9B8CFF"/>
                </a:solidFill>
                <a:latin typeface="Space Grotesk" pitchFamily="34" charset="0"/>
                <a:ea typeface="Space Grotesk" pitchFamily="34" charset="-122"/>
                <a:cs typeface="Space Grotesk" pitchFamily="34" charset="-120"/>
              </a:rPr>
              <a:t>151</a:t>
            </a:r>
            <a:endParaRPr lang="en-US" sz="3600" dirty="0"/>
          </a:p>
        </p:txBody>
      </p:sp>
      <p:sp>
        <p:nvSpPr>
          <p:cNvPr id="15" name="Text 13"/>
          <p:cNvSpPr/>
          <p:nvPr/>
        </p:nvSpPr>
        <p:spPr>
          <a:xfrm>
            <a:off x="3511550" y="4011613"/>
            <a:ext cx="197523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2D9"/>
                </a:solidFill>
                <a:latin typeface="IBM Plex Sans" pitchFamily="34" charset="0"/>
                <a:ea typeface="IBM Plex Sans" pitchFamily="34" charset="-122"/>
                <a:cs typeface="IBM Plex Sans" pitchFamily="34" charset="-120"/>
              </a:rPr>
              <a:t>input features per developer</a:t>
            </a:r>
            <a:endParaRPr lang="en-US" sz="1300" dirty="0"/>
          </a:p>
        </p:txBody>
      </p:sp>
      <p:sp>
        <p:nvSpPr>
          <p:cNvPr id="16" name="Text 14"/>
          <p:cNvSpPr/>
          <p:nvPr/>
        </p:nvSpPr>
        <p:spPr>
          <a:xfrm>
            <a:off x="5943600" y="1892201"/>
            <a:ext cx="55986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2F8"/>
                </a:solidFill>
                <a:latin typeface="Space Grotesk" pitchFamily="34" charset="0"/>
                <a:ea typeface="Space Grotesk" pitchFamily="34" charset="-122"/>
                <a:cs typeface="Space Grotesk" pitchFamily="34" charset="-120"/>
              </a:rPr>
              <a:t>Cleaning steps (clean.py)</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956300" y="2250281"/>
          <a:ext cx="5422900" cy="2514898"/>
        </p:xfrm>
        <a:graphic>
          <a:graphicData uri="http://schemas.openxmlformats.org/drawingml/2006/table">
            <a:tbl>
              <a:tblPr/>
              <a:tblGrid>
                <a:gridCol w="3796030"/>
                <a:gridCol w="1626870"/>
              </a:tblGrid>
              <a:tr h="359271">
                <a:tc>
                  <a:txBody>
                    <a:bodyPr/>
                    <a:lstStyle/>
                    <a:p>
                      <a:pPr indent="0" marL="0">
                        <a:lnSpc>
                          <a:spcPts val="1820"/>
                        </a:lnSpc>
                        <a:buNone/>
                      </a:pPr>
                      <a:r>
                        <a:rPr lang="en-US" sz="1300" b="1" dirty="0">
                          <a:solidFill>
                            <a:srgbClr val="EEF2F8"/>
                          </a:solidFill>
                          <a:latin typeface="IBM Plex Sans" pitchFamily="34" charset="0"/>
                          <a:ea typeface="IBM Plex Sans" pitchFamily="34" charset="-122"/>
                          <a:cs typeface="IBM Plex Sans" pitchFamily="34" charset="-120"/>
                        </a:rPr>
                        <a:t>Step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34F"/>
                      </a:solidFill>
                      <a:prstDash val="solid"/>
                      <a:round/>
                      <a:headEnd type="none" w="med" len="med"/>
                      <a:tailEnd type="none" w="med" len="med"/>
                    </a:lnL>
                    <a:lnR w="12700" cap="flat" cmpd="sng" algn="ctr">
                      <a:solidFill>
                        <a:srgbClr val="4F5B7E"/>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F5B7E"/>
                      </a:solidFill>
                      <a:prstDash val="solid"/>
                      <a:round/>
                      <a:headEnd type="none" w="med" len="med"/>
                      <a:tailEnd type="none" w="med" len="med"/>
                    </a:lnB>
                    <a:solidFill>
                      <a:srgbClr val="1F2E5C"/>
                    </a:solidFill>
                  </a:tcPr>
                </a:tc>
                <a:tc>
                  <a:txBody>
                    <a:bodyPr/>
                    <a:lstStyle/>
                    <a:p>
                      <a:pPr algn="r" indent="0" marL="0">
                        <a:lnSpc>
                          <a:spcPts val="1820"/>
                        </a:lnSpc>
                        <a:buNone/>
                      </a:pPr>
                      <a:r>
                        <a:rPr lang="en-US" sz="1300" b="1" dirty="0">
                          <a:solidFill>
                            <a:srgbClr val="EEF2F8"/>
                          </a:solidFill>
                          <a:latin typeface="IBM Plex Sans" pitchFamily="34" charset="0"/>
                          <a:ea typeface="IBM Plex Sans" pitchFamily="34" charset="-122"/>
                          <a:cs typeface="IBM Plex Sans" pitchFamily="34" charset="-120"/>
                        </a:rPr>
                        <a:t>Rows left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F5B7E"/>
                      </a:solidFill>
                      <a:prstDash val="solid"/>
                      <a:round/>
                      <a:headEnd type="none" w="med" len="med"/>
                      <a:tailEnd type="none" w="med" len="med"/>
                    </a:lnL>
                    <a:lnR w="12700" cap="flat" cmpd="sng" algn="ctr">
                      <a:solidFill>
                        <a:srgbClr val="4F5B7E"/>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F5B7E"/>
                      </a:solidFill>
                      <a:prstDash val="solid"/>
                      <a:round/>
                      <a:headEnd type="none" w="med" len="med"/>
                      <a:tailEnd type="none" w="med" len="med"/>
                    </a:lnB>
                    <a:solidFill>
                      <a:srgbClr val="1F2E5C"/>
                    </a:solidFill>
                  </a:tcPr>
                </a:tc>
              </a:tr>
              <a:tr h="359271">
                <a:tc>
                  <a:txBody>
                    <a:bodyPr/>
                    <a:lstStyle/>
                    <a:p>
                      <a:pP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Raw, 5 years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F5B7E"/>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360,519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F5B7E"/>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r>
              <a:tr h="359271">
                <a:tc>
                  <a:txBody>
                    <a:bodyPr/>
                    <a:lstStyle/>
                    <a:p>
                      <a:pP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Professional devs with a salary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163,791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r>
              <a:tr h="359271">
                <a:tc>
                  <a:txBody>
                    <a:bodyPr/>
                    <a:lstStyle/>
                    <a:p>
                      <a:pP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Salary $3k – $600k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156,922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r>
              <a:tr h="359271">
                <a:tc>
                  <a:txBody>
                    <a:bodyPr/>
                    <a:lstStyle/>
                    <a:p>
                      <a:pP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Valid years of experience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155,862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r>
              <a:tr h="359271">
                <a:tc>
                  <a:txBody>
                    <a:bodyPr/>
                    <a:lstStyle/>
                    <a:p>
                      <a:pP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Has a developer role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154,797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r>
              <a:tr h="359271">
                <a:tc>
                  <a:txBody>
                    <a:bodyPr/>
                    <a:lstStyle/>
                    <a:p>
                      <a:pP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At least one skill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153,645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r>
            </a:tbl>
          </a:graphicData>
        </a:graphic>
      </p:graphicFrame>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6"/>
                </a:solidFill>
                <a:latin typeface="JetBrains Mono" pitchFamily="49" charset="0"/>
                <a:ea typeface="JetBrains Mono" pitchFamily="49" charset="-122"/>
                <a:cs typeface="JetBrains Mono" pitchFamily="49" charset="-120"/>
              </a:rPr>
              <a:t>DevAscend · 04 · Source: survey.stackoverflow.co (ODbL licence)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A30"/>
        </a:solidFill>
      </p:bgPr>
    </p:bg>
    <p:spTree>
      <p:nvGrpSpPr>
        <p:cNvPr id="1" name=""/>
        <p:cNvGrpSpPr/>
        <p:nvPr/>
      </p:nvGrpSpPr>
      <p:grpSpPr>
        <a:xfrm>
          <a:off x="0" y="0"/>
          <a:ext cx="0" cy="0"/>
          <a:chOff x="0" y="0"/>
          <a:chExt cx="0" cy="0"/>
        </a:xfrm>
      </p:grpSpPr>
      <p:sp>
        <p:nvSpPr>
          <p:cNvPr id="2" name="Text 0"/>
          <p:cNvSpPr/>
          <p:nvPr/>
        </p:nvSpPr>
        <p:spPr>
          <a:xfrm>
            <a:off x="812800" y="812800"/>
            <a:ext cx="10883392" cy="248741"/>
          </a:xfrm>
          <a:prstGeom prst="rect">
            <a:avLst/>
          </a:prstGeom>
          <a:noFill/>
          <a:ln/>
        </p:spPr>
        <p:txBody>
          <a:bodyPr wrap="square" lIns="0" tIns="0" rIns="0" bIns="0" rtlCol="0" anchor="t">
            <a:normAutofit/>
          </a:bodyPr>
          <a:lstStyle/>
          <a:p>
            <a:pPr algn="l" indent="0" marL="0">
              <a:lnSpc>
                <a:spcPts val="1774"/>
              </a:lnSpc>
              <a:buNone/>
            </a:pPr>
            <a:r>
              <a:rPr lang="en-US" sz="1268" spc="150" kern="0" dirty="0">
                <a:solidFill>
                  <a:srgbClr val="3DD9EB"/>
                </a:solidFill>
                <a:latin typeface="JetBrains Mono" pitchFamily="49" charset="0"/>
                <a:ea typeface="JetBrains Mono" pitchFamily="49" charset="-122"/>
                <a:cs typeface="JetBrains Mono" pitchFamily="49" charset="-120"/>
              </a:rPr>
              <a:t>DATA PIPELINE</a:t>
            </a:r>
            <a:endParaRPr lang="en-US" sz="1268" dirty="0"/>
          </a:p>
        </p:txBody>
      </p:sp>
      <p:sp>
        <p:nvSpPr>
          <p:cNvPr id="3" name="Text 1"/>
          <p:cNvSpPr/>
          <p:nvPr>
            <p:ph type="title"/>
          </p:nvPr>
        </p:nvSpPr>
        <p:spPr>
          <a:xfrm>
            <a:off x="812800" y="1112341"/>
            <a:ext cx="10883392" cy="929283"/>
          </a:xfrm>
          <a:prstGeom prst="rect">
            <a:avLst/>
          </a:prstGeom>
          <a:noFill/>
          <a:ln/>
        </p:spPr>
        <p:txBody>
          <a:bodyPr wrap="square" lIns="0" tIns="0" rIns="0" bIns="0" rtlCol="0" anchor="t">
            <a:normAutofit/>
          </a:bodyPr>
          <a:lstStyle/>
          <a:p>
            <a:pPr algn="l" indent="0" marL="0">
              <a:lnSpc>
                <a:spcPts val="3553"/>
              </a:lnSpc>
              <a:buNone/>
            </a:pPr>
            <a:r>
              <a:rPr lang="en-US" sz="3090" b="1" i="0" dirty="0">
                <a:solidFill>
                  <a:srgbClr val="EEF2F8"/>
                </a:solidFill>
                <a:latin typeface="Space Grotesk" pitchFamily="34" charset="0"/>
                <a:ea typeface="Space Grotesk" pitchFamily="34" charset="-122"/>
                <a:cs typeface="Space Grotesk" pitchFamily="34" charset="-120"/>
              </a:rPr>
              <a:t>Apache Cassandra stores the dataset and every prediction</a:t>
            </a:r>
            <a:endParaRPr lang="en-US" sz="3090" dirty="0"/>
          </a:p>
        </p:txBody>
      </p:sp>
      <p:sp>
        <p:nvSpPr>
          <p:cNvPr id="4" name="Shape 2"/>
          <p:cNvSpPr/>
          <p:nvPr/>
        </p:nvSpPr>
        <p:spPr>
          <a:xfrm>
            <a:off x="815975" y="2366764"/>
            <a:ext cx="1697930" cy="1037431"/>
          </a:xfrm>
          <a:prstGeom prst="roundRect">
            <a:avLst>
              <a:gd name="adj" fmla="val 9487"/>
            </a:avLst>
          </a:prstGeom>
          <a:solidFill>
            <a:srgbClr val="1A2440"/>
          </a:solidFill>
          <a:ln w="6350">
            <a:solidFill>
              <a:srgbClr val="2A3A63"/>
            </a:solidFill>
            <a:prstDash val="solid"/>
          </a:ln>
        </p:spPr>
      </p:sp>
      <p:sp>
        <p:nvSpPr>
          <p:cNvPr id="5" name="Text 3"/>
          <p:cNvSpPr/>
          <p:nvPr/>
        </p:nvSpPr>
        <p:spPr>
          <a:xfrm>
            <a:off x="971550" y="2522339"/>
            <a:ext cx="143758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EF2F8"/>
                </a:solidFill>
                <a:latin typeface="IBM Plex Sans" pitchFamily="34" charset="0"/>
                <a:ea typeface="IBM Plex Sans" pitchFamily="34" charset="-122"/>
                <a:cs typeface="IBM Plex Sans" pitchFamily="34" charset="-120"/>
              </a:rPr>
              <a:t>Survey CSVs</a:t>
            </a:r>
            <a:endParaRPr lang="en-US" sz="1400" dirty="0"/>
          </a:p>
        </p:txBody>
      </p:sp>
      <p:sp>
        <p:nvSpPr>
          <p:cNvPr id="6" name="Text 4"/>
          <p:cNvSpPr/>
          <p:nvPr/>
        </p:nvSpPr>
        <p:spPr>
          <a:xfrm>
            <a:off x="971550" y="2821980"/>
            <a:ext cx="14375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5 files, about 650 MB</a:t>
            </a:r>
            <a:endParaRPr lang="en-US" sz="1200" dirty="0"/>
          </a:p>
        </p:txBody>
      </p:sp>
      <p:pic>
        <p:nvPicPr>
          <p:cNvPr id="7" name="Image 0" descr="arrow-right">    </p:cNvPr>
          <p:cNvPicPr>
            <a:picLocks noChangeAspect="1"/>
          </p:cNvPicPr>
          <p:nvPr/>
        </p:nvPicPr>
        <p:blipFill>
          <a:blip r:embed="rId1"/>
          <a:srcRect l="0" r="0" t="0" b="0"/>
          <a:stretch/>
        </p:blipFill>
        <p:spPr>
          <a:xfrm>
            <a:off x="2618680" y="2796580"/>
            <a:ext cx="304800" cy="177800"/>
          </a:xfrm>
          <a:prstGeom prst="rect">
            <a:avLst/>
          </a:prstGeom>
        </p:spPr>
      </p:pic>
      <p:sp>
        <p:nvSpPr>
          <p:cNvPr id="8" name="Shape 5"/>
          <p:cNvSpPr/>
          <p:nvPr/>
        </p:nvSpPr>
        <p:spPr>
          <a:xfrm>
            <a:off x="3028255" y="2366764"/>
            <a:ext cx="1698030" cy="1037431"/>
          </a:xfrm>
          <a:prstGeom prst="roundRect">
            <a:avLst>
              <a:gd name="adj" fmla="val 9487"/>
            </a:avLst>
          </a:prstGeom>
          <a:solidFill>
            <a:srgbClr val="1A2440"/>
          </a:solidFill>
          <a:ln w="6350">
            <a:solidFill>
              <a:srgbClr val="2A3A63"/>
            </a:solidFill>
            <a:prstDash val="solid"/>
          </a:ln>
        </p:spPr>
      </p:sp>
      <p:sp>
        <p:nvSpPr>
          <p:cNvPr id="9" name="Text 6"/>
          <p:cNvSpPr/>
          <p:nvPr/>
        </p:nvSpPr>
        <p:spPr>
          <a:xfrm>
            <a:off x="3183830" y="2522339"/>
            <a:ext cx="143768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EF2F8"/>
                </a:solidFill>
                <a:latin typeface="IBM Plex Sans" pitchFamily="34" charset="0"/>
                <a:ea typeface="IBM Plex Sans" pitchFamily="34" charset="-122"/>
                <a:cs typeface="IBM Plex Sans" pitchFamily="34" charset="-120"/>
              </a:rPr>
              <a:t>ingest.py</a:t>
            </a:r>
            <a:endParaRPr lang="en-US" sz="1400" dirty="0"/>
          </a:p>
        </p:txBody>
      </p:sp>
      <p:sp>
        <p:nvSpPr>
          <p:cNvPr id="10" name="Text 7"/>
          <p:cNvSpPr/>
          <p:nvPr/>
        </p:nvSpPr>
        <p:spPr>
          <a:xfrm>
            <a:off x="3183830" y="2821980"/>
            <a:ext cx="1437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prepared INSERTs, 100 in parallel</a:t>
            </a:r>
            <a:endParaRPr lang="en-US" sz="1200" dirty="0"/>
          </a:p>
        </p:txBody>
      </p:sp>
      <p:pic>
        <p:nvPicPr>
          <p:cNvPr id="11" name="Image 1" descr="arrow-right">    </p:cNvPr>
          <p:cNvPicPr>
            <a:picLocks noChangeAspect="1"/>
          </p:cNvPicPr>
          <p:nvPr/>
        </p:nvPicPr>
        <p:blipFill>
          <a:blip r:embed="rId2"/>
          <a:srcRect l="0" r="0" t="0" b="0"/>
          <a:stretch/>
        </p:blipFill>
        <p:spPr>
          <a:xfrm>
            <a:off x="4831060" y="2796580"/>
            <a:ext cx="304800" cy="177800"/>
          </a:xfrm>
          <a:prstGeom prst="rect">
            <a:avLst/>
          </a:prstGeom>
        </p:spPr>
      </p:pic>
      <p:sp>
        <p:nvSpPr>
          <p:cNvPr id="12" name="Shape 8"/>
          <p:cNvSpPr/>
          <p:nvPr/>
        </p:nvSpPr>
        <p:spPr>
          <a:xfrm>
            <a:off x="5243810" y="2256929"/>
            <a:ext cx="1704280" cy="1257102"/>
          </a:xfrm>
          <a:prstGeom prst="roundRect">
            <a:avLst>
              <a:gd name="adj" fmla="val 7577"/>
            </a:avLst>
          </a:prstGeom>
          <a:solidFill>
            <a:srgbClr val="1F2E5C"/>
          </a:solidFill>
          <a:ln w="12700">
            <a:solidFill>
              <a:srgbClr val="3DD9EB"/>
            </a:solidFill>
            <a:prstDash val="solid"/>
          </a:ln>
        </p:spPr>
      </p:sp>
      <p:sp>
        <p:nvSpPr>
          <p:cNvPr id="13" name="Text 9"/>
          <p:cNvSpPr/>
          <p:nvPr/>
        </p:nvSpPr>
        <p:spPr>
          <a:xfrm>
            <a:off x="5402560" y="2415679"/>
            <a:ext cx="143758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D9EB"/>
                </a:solidFill>
                <a:latin typeface="IBM Plex Sans" pitchFamily="34" charset="0"/>
                <a:ea typeface="IBM Plex Sans" pitchFamily="34" charset="-122"/>
                <a:cs typeface="IBM Plex Sans" pitchFamily="34" charset="-120"/>
              </a:rPr>
              <a:t>Cassandra</a:t>
            </a:r>
            <a:endParaRPr lang="en-US" sz="1400" dirty="0"/>
          </a:p>
        </p:txBody>
      </p:sp>
      <p:sp>
        <p:nvSpPr>
          <p:cNvPr id="14" name="Text 10"/>
          <p:cNvSpPr/>
          <p:nvPr/>
        </p:nvSpPr>
        <p:spPr>
          <a:xfrm>
            <a:off x="5402560" y="2715320"/>
            <a:ext cx="143758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EF2F8"/>
                </a:solidFill>
                <a:latin typeface="IBM Plex Sans" pitchFamily="34" charset="0"/>
                <a:ea typeface="IBM Plex Sans" pitchFamily="34" charset="-122"/>
                <a:cs typeface="IBM Plex Sans" pitchFamily="34" charset="-120"/>
              </a:rPr>
              <a:t>keyspace devascend, 360,519 rows</a:t>
            </a:r>
            <a:endParaRPr lang="en-US" sz="1200" dirty="0"/>
          </a:p>
        </p:txBody>
      </p:sp>
      <p:pic>
        <p:nvPicPr>
          <p:cNvPr id="15" name="Image 2" descr="arrow-right">    </p:cNvPr>
          <p:cNvPicPr>
            <a:picLocks noChangeAspect="1"/>
          </p:cNvPicPr>
          <p:nvPr/>
        </p:nvPicPr>
        <p:blipFill>
          <a:blip r:embed="rId3"/>
          <a:srcRect l="0" r="0" t="0" b="0"/>
          <a:stretch/>
        </p:blipFill>
        <p:spPr>
          <a:xfrm>
            <a:off x="7056041" y="2796580"/>
            <a:ext cx="304800" cy="177800"/>
          </a:xfrm>
          <a:prstGeom prst="rect">
            <a:avLst/>
          </a:prstGeom>
        </p:spPr>
      </p:pic>
      <p:sp>
        <p:nvSpPr>
          <p:cNvPr id="16" name="Shape 11"/>
          <p:cNvSpPr/>
          <p:nvPr/>
        </p:nvSpPr>
        <p:spPr>
          <a:xfrm>
            <a:off x="7465616" y="2366764"/>
            <a:ext cx="1698030" cy="1037431"/>
          </a:xfrm>
          <a:prstGeom prst="roundRect">
            <a:avLst>
              <a:gd name="adj" fmla="val 9487"/>
            </a:avLst>
          </a:prstGeom>
          <a:solidFill>
            <a:srgbClr val="1A2440"/>
          </a:solidFill>
          <a:ln w="6350">
            <a:solidFill>
              <a:srgbClr val="2A3A63"/>
            </a:solidFill>
            <a:prstDash val="solid"/>
          </a:ln>
        </p:spPr>
      </p:sp>
      <p:sp>
        <p:nvSpPr>
          <p:cNvPr id="17" name="Text 12"/>
          <p:cNvSpPr/>
          <p:nvPr/>
        </p:nvSpPr>
        <p:spPr>
          <a:xfrm>
            <a:off x="7621191" y="2522339"/>
            <a:ext cx="143768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EF2F8"/>
                </a:solidFill>
                <a:latin typeface="IBM Plex Sans" pitchFamily="34" charset="0"/>
                <a:ea typeface="IBM Plex Sans" pitchFamily="34" charset="-122"/>
                <a:cs typeface="IBM Plex Sans" pitchFamily="34" charset="-120"/>
              </a:rPr>
              <a:t>clean.py</a:t>
            </a:r>
            <a:endParaRPr lang="en-US" sz="1400" dirty="0"/>
          </a:p>
        </p:txBody>
      </p:sp>
      <p:sp>
        <p:nvSpPr>
          <p:cNvPr id="18" name="Text 13"/>
          <p:cNvSpPr/>
          <p:nvPr/>
        </p:nvSpPr>
        <p:spPr>
          <a:xfrm>
            <a:off x="7621191" y="2821980"/>
            <a:ext cx="1437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reads one year (partition) at a time</a:t>
            </a:r>
            <a:endParaRPr lang="en-US" sz="1200" dirty="0"/>
          </a:p>
        </p:txBody>
      </p:sp>
      <p:pic>
        <p:nvPicPr>
          <p:cNvPr id="19" name="Image 3" descr="arrow-right">    </p:cNvPr>
          <p:cNvPicPr>
            <a:picLocks noChangeAspect="1"/>
          </p:cNvPicPr>
          <p:nvPr/>
        </p:nvPicPr>
        <p:blipFill>
          <a:blip r:embed="rId4"/>
          <a:srcRect l="0" r="0" t="0" b="0"/>
          <a:stretch/>
        </p:blipFill>
        <p:spPr>
          <a:xfrm>
            <a:off x="9268420" y="2796580"/>
            <a:ext cx="304800" cy="177800"/>
          </a:xfrm>
          <a:prstGeom prst="rect">
            <a:avLst/>
          </a:prstGeom>
        </p:spPr>
      </p:pic>
      <p:sp>
        <p:nvSpPr>
          <p:cNvPr id="20" name="Shape 14"/>
          <p:cNvSpPr/>
          <p:nvPr/>
        </p:nvSpPr>
        <p:spPr>
          <a:xfrm>
            <a:off x="9677995" y="2366764"/>
            <a:ext cx="1698030" cy="1037431"/>
          </a:xfrm>
          <a:prstGeom prst="roundRect">
            <a:avLst>
              <a:gd name="adj" fmla="val 9487"/>
            </a:avLst>
          </a:prstGeom>
          <a:solidFill>
            <a:srgbClr val="1A2440"/>
          </a:solidFill>
          <a:ln w="6350">
            <a:solidFill>
              <a:srgbClr val="2A3A63"/>
            </a:solidFill>
            <a:prstDash val="solid"/>
          </a:ln>
        </p:spPr>
      </p:sp>
      <p:sp>
        <p:nvSpPr>
          <p:cNvPr id="21" name="Text 15"/>
          <p:cNvSpPr/>
          <p:nvPr/>
        </p:nvSpPr>
        <p:spPr>
          <a:xfrm>
            <a:off x="9833570" y="2522339"/>
            <a:ext cx="143768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EF2F8"/>
                </a:solidFill>
                <a:latin typeface="IBM Plex Sans" pitchFamily="34" charset="0"/>
                <a:ea typeface="IBM Plex Sans" pitchFamily="34" charset="-122"/>
                <a:cs typeface="IBM Plex Sans" pitchFamily="34" charset="-120"/>
              </a:rPr>
              <a:t>train.py</a:t>
            </a:r>
            <a:endParaRPr lang="en-US" sz="1400" dirty="0"/>
          </a:p>
        </p:txBody>
      </p:sp>
      <p:sp>
        <p:nvSpPr>
          <p:cNvPr id="22" name="Text 16"/>
          <p:cNvSpPr/>
          <p:nvPr/>
        </p:nvSpPr>
        <p:spPr>
          <a:xfrm>
            <a:off x="9833570" y="2821980"/>
            <a:ext cx="1437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trains and saves the models</a:t>
            </a:r>
            <a:endParaRPr lang="en-US" sz="1200" dirty="0"/>
          </a:p>
        </p:txBody>
      </p:sp>
      <p:sp>
        <p:nvSpPr>
          <p:cNvPr id="23" name="Shape 17"/>
          <p:cNvSpPr/>
          <p:nvPr/>
        </p:nvSpPr>
        <p:spPr>
          <a:xfrm>
            <a:off x="815975" y="3757910"/>
            <a:ext cx="5175250" cy="1585813"/>
          </a:xfrm>
          <a:prstGeom prst="roundRect">
            <a:avLst>
              <a:gd name="adj" fmla="val 7808"/>
            </a:avLst>
          </a:prstGeom>
          <a:solidFill>
            <a:srgbClr val="1A2440"/>
          </a:solidFill>
          <a:ln w="6350">
            <a:solidFill>
              <a:srgbClr val="2A3A63"/>
            </a:solidFill>
            <a:prstDash val="solid"/>
          </a:ln>
        </p:spPr>
      </p:sp>
      <p:sp>
        <p:nvSpPr>
          <p:cNvPr id="24" name="Text 18"/>
          <p:cNvSpPr/>
          <p:nvPr/>
        </p:nvSpPr>
        <p:spPr>
          <a:xfrm>
            <a:off x="1073150" y="4015085"/>
            <a:ext cx="4800727" cy="255588"/>
          </a:xfrm>
          <a:prstGeom prst="rect">
            <a:avLst/>
          </a:prstGeom>
          <a:noFill/>
          <a:ln/>
        </p:spPr>
        <p:txBody>
          <a:bodyPr wrap="square" lIns="0" tIns="0" rIns="0" bIns="0" rtlCol="0" anchor="t">
            <a:normAutofit/>
          </a:bodyPr>
          <a:lstStyle/>
          <a:p>
            <a:pPr algn="l" indent="0" marL="0">
              <a:lnSpc>
                <a:spcPts val="1824"/>
              </a:lnSpc>
              <a:buNone/>
            </a:pPr>
            <a:r>
              <a:rPr lang="en-US" sz="1520" b="1" dirty="0">
                <a:solidFill>
                  <a:srgbClr val="EEF2F8"/>
                </a:solidFill>
                <a:latin typeface="Space Grotesk" pitchFamily="34" charset="0"/>
                <a:ea typeface="Space Grotesk" pitchFamily="34" charset="-122"/>
                <a:cs typeface="Space Grotesk" pitchFamily="34" charset="-120"/>
              </a:rPr>
              <a:t>survey_responses: training data</a:t>
            </a:r>
            <a:endParaRPr lang="en-US" sz="1520" dirty="0"/>
          </a:p>
        </p:txBody>
      </p:sp>
      <p:sp>
        <p:nvSpPr>
          <p:cNvPr id="25" name="Text 19"/>
          <p:cNvSpPr/>
          <p:nvPr/>
        </p:nvSpPr>
        <p:spPr>
          <a:xfrm>
            <a:off x="1073150" y="4346873"/>
            <a:ext cx="4800727" cy="226913"/>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DD9EB"/>
                </a:solidFill>
                <a:latin typeface="JetBrains Mono" pitchFamily="49" charset="0"/>
                <a:ea typeface="JetBrains Mono" pitchFamily="49" charset="-122"/>
                <a:cs typeface="JetBrains Mono" pitchFamily="49" charset="-120"/>
              </a:rPr>
              <a:t>PRIMARY KEY ((survey_year), response_id)</a:t>
            </a:r>
            <a:endParaRPr lang="en-US" sz="1159" dirty="0"/>
          </a:p>
        </p:txBody>
      </p:sp>
      <p:sp>
        <p:nvSpPr>
          <p:cNvPr id="26" name="Text 20"/>
          <p:cNvSpPr/>
          <p:nvPr/>
        </p:nvSpPr>
        <p:spPr>
          <a:xfrm>
            <a:off x="1073150" y="4649986"/>
            <a:ext cx="4800727" cy="461963"/>
          </a:xfrm>
          <a:prstGeom prst="rect">
            <a:avLst/>
          </a:prstGeom>
          <a:noFill/>
          <a:ln/>
        </p:spPr>
        <p:txBody>
          <a:bodyPr wrap="square" lIns="0" tIns="0" rIns="0" bIns="0" rtlCol="0" anchor="t">
            <a:normAutofit/>
          </a:bodyPr>
          <a:lstStyle/>
          <a:p>
            <a:pPr algn="l" indent="0" marL="0">
              <a:lnSpc>
                <a:spcPts val="1735"/>
              </a:lnSpc>
              <a:buNone/>
            </a:pPr>
            <a:r>
              <a:rPr lang="en-US" sz="1239" dirty="0">
                <a:solidFill>
                  <a:srgbClr val="B7C2D9"/>
                </a:solidFill>
                <a:latin typeface="IBM Plex Sans" pitchFamily="34" charset="0"/>
                <a:ea typeface="IBM Plex Sans" pitchFamily="34" charset="-122"/>
                <a:cs typeface="IBM Plex Sans" pitchFamily="34" charset="-120"/>
              </a:rPr>
              <a:t>Partition key = survey year, so “all 2024 developers” is one fast query.</a:t>
            </a:r>
            <a:endParaRPr lang="en-US" sz="1239" dirty="0"/>
          </a:p>
        </p:txBody>
      </p:sp>
      <p:sp>
        <p:nvSpPr>
          <p:cNvPr id="27" name="Shape 21"/>
          <p:cNvSpPr/>
          <p:nvPr/>
        </p:nvSpPr>
        <p:spPr>
          <a:xfrm>
            <a:off x="6200775" y="3757910"/>
            <a:ext cx="5175250" cy="1585813"/>
          </a:xfrm>
          <a:prstGeom prst="roundRect">
            <a:avLst>
              <a:gd name="adj" fmla="val 7808"/>
            </a:avLst>
          </a:prstGeom>
          <a:solidFill>
            <a:srgbClr val="1A2440"/>
          </a:solidFill>
          <a:ln w="6350">
            <a:solidFill>
              <a:srgbClr val="2A3A63"/>
            </a:solidFill>
            <a:prstDash val="solid"/>
          </a:ln>
        </p:spPr>
      </p:sp>
      <p:sp>
        <p:nvSpPr>
          <p:cNvPr id="28" name="Text 22"/>
          <p:cNvSpPr/>
          <p:nvPr/>
        </p:nvSpPr>
        <p:spPr>
          <a:xfrm>
            <a:off x="6457950" y="4015085"/>
            <a:ext cx="4800727" cy="255588"/>
          </a:xfrm>
          <a:prstGeom prst="rect">
            <a:avLst/>
          </a:prstGeom>
          <a:noFill/>
          <a:ln/>
        </p:spPr>
        <p:txBody>
          <a:bodyPr wrap="square" lIns="0" tIns="0" rIns="0" bIns="0" rtlCol="0" anchor="t">
            <a:normAutofit/>
          </a:bodyPr>
          <a:lstStyle/>
          <a:p>
            <a:pPr algn="l" indent="0" marL="0">
              <a:lnSpc>
                <a:spcPts val="1824"/>
              </a:lnSpc>
              <a:buNone/>
            </a:pPr>
            <a:r>
              <a:rPr lang="en-US" sz="1520" b="1" dirty="0">
                <a:solidFill>
                  <a:srgbClr val="EEF2F8"/>
                </a:solidFill>
                <a:latin typeface="Space Grotesk" pitchFamily="34" charset="0"/>
                <a:ea typeface="Space Grotesk" pitchFamily="34" charset="-122"/>
                <a:cs typeface="Space Grotesk" pitchFamily="34" charset="-120"/>
              </a:rPr>
              <a:t>predictions: app history</a:t>
            </a:r>
            <a:endParaRPr lang="en-US" sz="1520" dirty="0"/>
          </a:p>
        </p:txBody>
      </p:sp>
      <p:sp>
        <p:nvSpPr>
          <p:cNvPr id="29" name="Text 23"/>
          <p:cNvSpPr/>
          <p:nvPr/>
        </p:nvSpPr>
        <p:spPr>
          <a:xfrm>
            <a:off x="6457950" y="4346873"/>
            <a:ext cx="4800727" cy="226913"/>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9B8CFF"/>
                </a:solidFill>
                <a:latin typeface="JetBrains Mono" pitchFamily="49" charset="0"/>
                <a:ea typeface="JetBrains Mono" pitchFamily="49" charset="-122"/>
                <a:cs typeface="JetBrains Mono" pitchFamily="49" charset="-120"/>
              </a:rPr>
              <a:t>PRIMARY KEY ((bucket), created_at DESC, id)</a:t>
            </a:r>
            <a:endParaRPr lang="en-US" sz="1159" dirty="0"/>
          </a:p>
        </p:txBody>
      </p:sp>
      <p:sp>
        <p:nvSpPr>
          <p:cNvPr id="30" name="Text 24"/>
          <p:cNvSpPr/>
          <p:nvPr/>
        </p:nvSpPr>
        <p:spPr>
          <a:xfrm>
            <a:off x="6457950" y="4649986"/>
            <a:ext cx="4914900" cy="461963"/>
          </a:xfrm>
          <a:prstGeom prst="rect">
            <a:avLst/>
          </a:prstGeom>
          <a:noFill/>
          <a:ln/>
        </p:spPr>
        <p:txBody>
          <a:bodyPr wrap="square" lIns="0" tIns="0" rIns="0" bIns="0" rtlCol="0" anchor="t">
            <a:normAutofit/>
          </a:bodyPr>
          <a:lstStyle/>
          <a:p>
            <a:pPr algn="l" indent="0" marL="0">
              <a:lnSpc>
                <a:spcPts val="1752"/>
              </a:lnSpc>
              <a:buNone/>
            </a:pPr>
            <a:r>
              <a:rPr lang="en-US" sz="1251" dirty="0">
                <a:solidFill>
                  <a:srgbClr val="B7C2D9"/>
                </a:solidFill>
                <a:latin typeface="IBM Plex Sans" pitchFamily="34" charset="0"/>
                <a:ea typeface="IBM Plex Sans" pitchFamily="34" charset="-122"/>
                <a:cs typeface="IBM Plex Sans" pitchFamily="34" charset="-120"/>
              </a:rPr>
              <a:t>Every prediction is saved, sorted newest first for the history table.</a:t>
            </a:r>
            <a:endParaRPr lang="en-US" sz="1251" dirty="0"/>
          </a:p>
        </p:txBody>
      </p:sp>
      <p:sp>
        <p:nvSpPr>
          <p:cNvPr id="31" name="Text 25"/>
          <p:cNvSpPr/>
          <p:nvPr/>
        </p:nvSpPr>
        <p:spPr>
          <a:xfrm>
            <a:off x="812800" y="5600898"/>
            <a:ext cx="10883392" cy="266502"/>
          </a:xfrm>
          <a:prstGeom prst="rect">
            <a:avLst/>
          </a:prstGeom>
          <a:noFill/>
          <a:ln/>
        </p:spPr>
        <p:txBody>
          <a:bodyPr wrap="square" lIns="0" tIns="0" rIns="0" bIns="0" rtlCol="0" anchor="t">
            <a:normAutofit/>
          </a:bodyPr>
          <a:lstStyle/>
          <a:p>
            <a:pPr algn="l" indent="0" marL="0">
              <a:lnSpc>
                <a:spcPts val="1923"/>
              </a:lnSpc>
              <a:buNone/>
            </a:pPr>
            <a:r>
              <a:rPr lang="en-US" sz="1374" dirty="0">
                <a:solidFill>
                  <a:srgbClr val="B7C2D9"/>
                </a:solidFill>
                <a:latin typeface="IBM Plex Sans" pitchFamily="34" charset="0"/>
                <a:ea typeface="IBM Plex Sans" pitchFamily="34" charset="-122"/>
                <a:cs typeface="IBM Plex Sans" pitchFamily="34" charset="-120"/>
              </a:rPr>
              <a:t>Query-first design: no JOINs, so each table is built around the query it serves.</a:t>
            </a:r>
            <a:endParaRPr lang="en-US" sz="1374" dirty="0"/>
          </a:p>
        </p:txBody>
      </p:sp>
      <p:sp>
        <p:nvSpPr>
          <p:cNvPr id="32"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6"/>
                </a:solidFill>
                <a:latin typeface="JetBrains Mono" pitchFamily="49" charset="0"/>
                <a:ea typeface="JetBrains Mono" pitchFamily="49" charset="-122"/>
                <a:cs typeface="JetBrains Mono" pitchFamily="49" charset="-120"/>
              </a:rPr>
              <a:t>DevAscend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3DD9EB"/>
                </a:solidFill>
                <a:latin typeface="JetBrains Mono" pitchFamily="49" charset="0"/>
                <a:ea typeface="JetBrains Mono" pitchFamily="49" charset="-122"/>
                <a:cs typeface="JetBrains Mono" pitchFamily="49" charset="-120"/>
              </a:rPr>
              <a:t>THE TARGET LABEL</a:t>
            </a:r>
            <a:endParaRPr lang="en-US" sz="1300" dirty="0"/>
          </a:p>
        </p:txBody>
      </p:sp>
      <p:sp>
        <p:nvSpPr>
          <p:cNvPr id="3" name="Text 1"/>
          <p:cNvSpPr/>
          <p:nvPr>
            <p:ph type="title"/>
          </p:nvPr>
        </p:nvSpPr>
        <p:spPr>
          <a:xfrm>
            <a:off x="812800" y="11200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EEF2F8"/>
                </a:solidFill>
                <a:latin typeface="Space Grotesk" pitchFamily="34" charset="0"/>
                <a:ea typeface="Space Grotesk" pitchFamily="34" charset="-122"/>
                <a:cs typeface="Space Grotesk" pitchFamily="34" charset="-120"/>
              </a:rPr>
              <a:t>The survey has no “level”, so we define it</a:t>
            </a:r>
            <a:endParaRPr lang="en-US" sz="3200" dirty="0"/>
          </a:p>
        </p:txBody>
      </p:sp>
      <p:sp>
        <p:nvSpPr>
          <p:cNvPr id="4" name="Shape 2"/>
          <p:cNvSpPr/>
          <p:nvPr/>
        </p:nvSpPr>
        <p:spPr>
          <a:xfrm>
            <a:off x="815975" y="1895376"/>
            <a:ext cx="4819650" cy="2863453"/>
          </a:xfrm>
          <a:prstGeom prst="roundRect">
            <a:avLst>
              <a:gd name="adj" fmla="val 4324"/>
            </a:avLst>
          </a:prstGeom>
          <a:solidFill>
            <a:srgbClr val="1A2440"/>
          </a:solidFill>
          <a:ln w="6350">
            <a:solidFill>
              <a:srgbClr val="2A3A63"/>
            </a:solidFill>
            <a:prstDash val="solid"/>
          </a:ln>
        </p:spPr>
      </p:sp>
      <p:sp>
        <p:nvSpPr>
          <p:cNvPr id="5" name="Text 3"/>
          <p:cNvSpPr/>
          <p:nvPr/>
        </p:nvSpPr>
        <p:spPr>
          <a:xfrm>
            <a:off x="1073150" y="2152551"/>
            <a:ext cx="4434459"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D9EB"/>
                </a:solidFill>
                <a:latin typeface="JetBrains Mono" pitchFamily="49" charset="0"/>
                <a:ea typeface="JetBrains Mono" pitchFamily="49" charset="-122"/>
                <a:cs typeface="JetBrains Mono" pitchFamily="49" charset="-120"/>
              </a:rPr>
              <a:t>level_score = 100 × ½ ×</a:t>
            </a:r>
            <a:endParaRPr lang="en-US" sz="1400" dirty="0"/>
          </a:p>
          <a:p>
            <a:pPr algn="l" indent="0" marL="0">
              <a:lnSpc>
                <a:spcPts val="2100"/>
              </a:lnSpc>
              <a:buNone/>
            </a:pPr>
            <a:r>
              <a:rPr lang="en-US" sz="1400" dirty="0">
                <a:solidFill>
                  <a:srgbClr val="3DD9EB"/>
                </a:solidFill>
                <a:latin typeface="JetBrains Mono" pitchFamily="49" charset="0"/>
                <a:ea typeface="JetBrains Mono" pitchFamily="49" charset="-122"/>
                <a:cs typeface="JetBrains Mono" pitchFamily="49" charset="-120"/>
              </a:rPr>
              <a:t>(experience percentile</a:t>
            </a:r>
            <a:endParaRPr lang="en-US" sz="1400" dirty="0"/>
          </a:p>
          <a:p>
            <a:pPr algn="l" indent="0" marL="0">
              <a:lnSpc>
                <a:spcPts val="2100"/>
              </a:lnSpc>
              <a:buNone/>
            </a:pPr>
            <a:r>
              <a:rPr lang="en-US" sz="1400" dirty="0">
                <a:solidFill>
                  <a:srgbClr val="3DD9EB"/>
                </a:solidFill>
                <a:latin typeface="JetBrains Mono" pitchFamily="49" charset="0"/>
                <a:ea typeface="JetBrains Mono" pitchFamily="49" charset="-122"/>
                <a:cs typeface="JetBrains Mono" pitchFamily="49" charset="-120"/>
              </a:rPr>
              <a:t>+ salary percentile)</a:t>
            </a:r>
            <a:endParaRPr lang="en-US" sz="1400" dirty="0"/>
          </a:p>
        </p:txBody>
      </p:sp>
      <p:sp>
        <p:nvSpPr>
          <p:cNvPr id="6" name="Text 4"/>
          <p:cNvSpPr/>
          <p:nvPr/>
        </p:nvSpPr>
        <p:spPr>
          <a:xfrm>
            <a:off x="1073150" y="3105051"/>
            <a:ext cx="4434459"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7C2D9"/>
                </a:solidFill>
                <a:latin typeface="IBM Plex Sans" pitchFamily="34" charset="0"/>
                <a:ea typeface="IBM Plex Sans" pitchFamily="34" charset="-122"/>
                <a:cs typeface="IBM Plex Sans" pitchFamily="34" charset="-120"/>
              </a:rPr>
              <a:t>The salary percentile is computed inside the </a:t>
            </a:r>
            <a:r>
              <a:rPr lang="en-US" sz="1400" b="1" dirty="0">
                <a:solidFill>
                  <a:srgbClr val="B7C2D9"/>
                </a:solidFill>
                <a:latin typeface="IBM Plex Sans" pitchFamily="34" charset="0"/>
                <a:ea typeface="IBM Plex Sans" pitchFamily="34" charset="-122"/>
                <a:cs typeface="IBM Plex Sans" pitchFamily="34" charset="-120"/>
              </a:rPr>
              <a:t>same country and survey year</a:t>
            </a:r>
            <a:r>
              <a:rPr lang="en-US" sz="1400" dirty="0">
                <a:solidFill>
                  <a:srgbClr val="B7C2D9"/>
                </a:solidFill>
                <a:latin typeface="IBM Plex Sans" pitchFamily="34" charset="0"/>
                <a:ea typeface="IBM Plex Sans" pitchFamily="34" charset="-122"/>
                <a:cs typeface="IBM Plex Sans" pitchFamily="34" charset="-120"/>
              </a:rPr>
              <a:t>: $30k can be Senior in India but Junior in the USA.</a:t>
            </a:r>
            <a:endParaRPr lang="en-US" sz="1400" dirty="0"/>
          </a:p>
        </p:txBody>
      </p:sp>
      <p:sp>
        <p:nvSpPr>
          <p:cNvPr id="7" name="Text 5"/>
          <p:cNvSpPr/>
          <p:nvPr/>
        </p:nvSpPr>
        <p:spPr>
          <a:xfrm>
            <a:off x="1073150" y="4003973"/>
            <a:ext cx="443445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7C2D9"/>
                </a:solidFill>
                <a:latin typeface="IBM Plex Sans" pitchFamily="34" charset="0"/>
                <a:ea typeface="IBM Plex Sans" pitchFamily="34" charset="-122"/>
                <a:cs typeface="IBM Plex Sans" pitchFamily="34" charset="-120"/>
              </a:rPr>
              <a:t>Cut points: bottom 30% Junior, next 30% Mid, next 25% Senior, top 15% Lead.</a:t>
            </a:r>
            <a:endParaRPr lang="en-US" sz="1400" dirty="0"/>
          </a:p>
        </p:txBody>
      </p:sp>
      <p:sp>
        <p:nvSpPr>
          <p:cNvPr id="8" name="Text 6"/>
          <p:cNvSpPr/>
          <p:nvPr/>
        </p:nvSpPr>
        <p:spPr>
          <a:xfrm>
            <a:off x="5943600" y="1892201"/>
            <a:ext cx="55986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2F8"/>
                </a:solidFill>
                <a:latin typeface="Space Grotesk" pitchFamily="34" charset="0"/>
                <a:ea typeface="Space Grotesk" pitchFamily="34" charset="-122"/>
                <a:cs typeface="Space Grotesk" pitchFamily="34" charset="-120"/>
              </a:rPr>
              <a:t>The levels make sense</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56300" y="2250281"/>
          <a:ext cx="5422900" cy="1929805"/>
        </p:xfrm>
        <a:graphic>
          <a:graphicData uri="http://schemas.openxmlformats.org/drawingml/2006/table">
            <a:tbl>
              <a:tblPr/>
              <a:tblGrid>
                <a:gridCol w="1355725"/>
                <a:gridCol w="1084580"/>
                <a:gridCol w="1355725"/>
                <a:gridCol w="1626870"/>
              </a:tblGrid>
              <a:tr h="385961">
                <a:tc>
                  <a:txBody>
                    <a:bodyPr/>
                    <a:lstStyle/>
                    <a:p>
                      <a:pPr indent="0" marL="0">
                        <a:lnSpc>
                          <a:spcPts val="1960"/>
                        </a:lnSpc>
                        <a:buNone/>
                      </a:pPr>
                      <a:r>
                        <a:rPr lang="en-US" sz="1400" b="1" dirty="0">
                          <a:solidFill>
                            <a:srgbClr val="EEF2F8"/>
                          </a:solidFill>
                          <a:latin typeface="IBM Plex Sans" pitchFamily="34" charset="0"/>
                          <a:ea typeface="IBM Plex Sans" pitchFamily="34" charset="-122"/>
                          <a:cs typeface="IBM Plex Sans" pitchFamily="34" charset="-120"/>
                        </a:rPr>
                        <a:t>Level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F5B7E"/>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F5B7E"/>
                      </a:solidFill>
                      <a:prstDash val="solid"/>
                      <a:round/>
                      <a:headEnd type="none" w="med" len="med"/>
                      <a:tailEnd type="none" w="med" len="med"/>
                    </a:lnB>
                    <a:solidFill>
                      <a:srgbClr val="1F2E5C"/>
                    </a:solidFill>
                  </a:tcPr>
                </a:tc>
                <a:tc>
                  <a:txBody>
                    <a:bodyPr/>
                    <a:lstStyle/>
                    <a:p>
                      <a:pPr algn="r" indent="0" marL="0">
                        <a:lnSpc>
                          <a:spcPts val="1960"/>
                        </a:lnSpc>
                        <a:buNone/>
                      </a:pPr>
                      <a:r>
                        <a:rPr lang="en-US" sz="1400" b="1" dirty="0">
                          <a:solidFill>
                            <a:srgbClr val="EEF2F8"/>
                          </a:solidFill>
                          <a:latin typeface="IBM Plex Sans" pitchFamily="34" charset="0"/>
                          <a:ea typeface="IBM Plex Sans" pitchFamily="34" charset="-122"/>
                          <a:cs typeface="IBM Plex Sans" pitchFamily="34" charset="-120"/>
                        </a:rPr>
                        <a:t>Share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F5B7E"/>
                      </a:solidFill>
                      <a:prstDash val="solid"/>
                      <a:round/>
                      <a:headEnd type="none" w="med" len="med"/>
                      <a:tailEnd type="none" w="med" len="med"/>
                    </a:lnL>
                    <a:lnR w="12700" cap="flat" cmpd="sng" algn="ctr">
                      <a:solidFill>
                        <a:srgbClr val="4F5B7E"/>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F5B7E"/>
                      </a:solidFill>
                      <a:prstDash val="solid"/>
                      <a:round/>
                      <a:headEnd type="none" w="med" len="med"/>
                      <a:tailEnd type="none" w="med" len="med"/>
                    </a:lnB>
                    <a:solidFill>
                      <a:srgbClr val="1F2E5C"/>
                    </a:solidFill>
                  </a:tcPr>
                </a:tc>
                <a:tc>
                  <a:txBody>
                    <a:bodyPr/>
                    <a:lstStyle/>
                    <a:p>
                      <a:pPr algn="r" indent="0" marL="0">
                        <a:lnSpc>
                          <a:spcPts val="1960"/>
                        </a:lnSpc>
                        <a:buNone/>
                      </a:pPr>
                      <a:r>
                        <a:rPr lang="en-US" sz="1400" b="1" dirty="0">
                          <a:solidFill>
                            <a:srgbClr val="EEF2F8"/>
                          </a:solidFill>
                          <a:latin typeface="IBM Plex Sans" pitchFamily="34" charset="0"/>
                          <a:ea typeface="IBM Plex Sans" pitchFamily="34" charset="-122"/>
                          <a:cs typeface="IBM Plex Sans" pitchFamily="34" charset="-120"/>
                        </a:rPr>
                        <a:t>Median yrs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F5B7E"/>
                      </a:solidFill>
                      <a:prstDash val="solid"/>
                      <a:round/>
                      <a:headEnd type="none" w="med" len="med"/>
                      <a:tailEnd type="none" w="med" len="med"/>
                    </a:lnL>
                    <a:lnR w="12700" cap="flat" cmpd="sng" algn="ctr">
                      <a:solidFill>
                        <a:srgbClr val="4F5B7E"/>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F5B7E"/>
                      </a:solidFill>
                      <a:prstDash val="solid"/>
                      <a:round/>
                      <a:headEnd type="none" w="med" len="med"/>
                      <a:tailEnd type="none" w="med" len="med"/>
                    </a:lnB>
                    <a:solidFill>
                      <a:srgbClr val="1F2E5C"/>
                    </a:solidFill>
                  </a:tcPr>
                </a:tc>
                <a:tc>
                  <a:txBody>
                    <a:bodyPr/>
                    <a:lstStyle/>
                    <a:p>
                      <a:pPr algn="r" indent="0" marL="0">
                        <a:lnSpc>
                          <a:spcPts val="1960"/>
                        </a:lnSpc>
                        <a:buNone/>
                      </a:pPr>
                      <a:r>
                        <a:rPr lang="en-US" sz="1400" b="1" dirty="0">
                          <a:solidFill>
                            <a:srgbClr val="EEF2F8"/>
                          </a:solidFill>
                          <a:latin typeface="IBM Plex Sans" pitchFamily="34" charset="0"/>
                          <a:ea typeface="IBM Plex Sans" pitchFamily="34" charset="-122"/>
                          <a:cs typeface="IBM Plex Sans" pitchFamily="34" charset="-120"/>
                        </a:rPr>
                        <a:t>Median salary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F5B7E"/>
                      </a:solidFill>
                      <a:prstDash val="solid"/>
                      <a:round/>
                      <a:headEnd type="none" w="med" len="med"/>
                      <a:tailEnd type="none" w="med" len="med"/>
                    </a:lnL>
                    <a:lnR w="12700" cap="flat" cmpd="sng" algn="ctr">
                      <a:solidFill>
                        <a:srgbClr val="4F5B7E"/>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F5B7E"/>
                      </a:solidFill>
                      <a:prstDash val="solid"/>
                      <a:round/>
                      <a:headEnd type="none" w="med" len="med"/>
                      <a:tailEnd type="none" w="med" len="med"/>
                    </a:lnB>
                    <a:solidFill>
                      <a:srgbClr val="1F2E5C"/>
                    </a:solidFill>
                  </a:tcPr>
                </a:tc>
              </a:tr>
              <a:tr h="385961">
                <a:tc>
                  <a:txBody>
                    <a:bodyPr/>
                    <a:lstStyle/>
                    <a:p>
                      <a:pP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Junior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F5B7E"/>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30%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F5B7E"/>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F5B7E"/>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$36,410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F5B7E"/>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r>
              <a:tr h="385961">
                <a:tc>
                  <a:txBody>
                    <a:bodyPr/>
                    <a:lstStyle/>
                    <a:p>
                      <a:pP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Mid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30%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$62,820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r>
              <a:tr h="385961">
                <a:tc>
                  <a:txBody>
                    <a:bodyPr/>
                    <a:lstStyle/>
                    <a:p>
                      <a:pP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Senior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$90,647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r>
              <a:tr h="385961">
                <a:tc>
                  <a:txBody>
                    <a:bodyPr/>
                    <a:lstStyle/>
                    <a:p>
                      <a:pP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Lead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c>
                  <a:txBody>
                    <a:bodyPr/>
                    <a:lstStyle/>
                    <a:p>
                      <a:pPr algn="r"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$139,216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34F"/>
                      </a:solidFill>
                      <a:prstDash val="solid"/>
                      <a:round/>
                      <a:headEnd type="none" w="med" len="med"/>
                      <a:tailEnd type="none" w="med" len="med"/>
                    </a:lnL>
                    <a:lnR w="12700" cap="flat" cmpd="sng" algn="ctr">
                      <a:solidFill>
                        <a:srgbClr val="40434F"/>
                      </a:solidFill>
                      <a:prstDash val="solid"/>
                      <a:round/>
                      <a:headEnd type="none" w="med" len="med"/>
                      <a:tailEnd type="none" w="med" len="med"/>
                    </a:lnR>
                    <a:lnT w="12700" cap="flat" cmpd="sng" algn="ctr">
                      <a:solidFill>
                        <a:srgbClr val="40434F"/>
                      </a:solidFill>
                      <a:prstDash val="solid"/>
                      <a:round/>
                      <a:headEnd type="none" w="med" len="med"/>
                      <a:tailEnd type="none" w="med" len="med"/>
                    </a:lnT>
                    <a:lnB w="12700" cap="flat" cmpd="sng" algn="ctr">
                      <a:solidFill>
                        <a:srgbClr val="40434F"/>
                      </a:solidFill>
                      <a:prstDash val="solid"/>
                      <a:round/>
                      <a:headEnd type="none" w="med" len="med"/>
                      <a:tailEnd type="none" w="med" len="med"/>
                    </a:lnB>
                  </a:tcPr>
                </a:tc>
              </a:tr>
            </a:tbl>
          </a:graphicData>
        </a:graphic>
      </p:graphicFrame>
      <p:sp>
        <p:nvSpPr>
          <p:cNvPr id="10" name="Text 7"/>
          <p:cNvSpPr/>
          <p:nvPr/>
        </p:nvSpPr>
        <p:spPr>
          <a:xfrm>
            <a:off x="5943600" y="4281686"/>
            <a:ext cx="559866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2D9"/>
                </a:solidFill>
                <a:latin typeface="IBM Plex Sans" pitchFamily="34" charset="0"/>
                <a:ea typeface="IBM Plex Sans" pitchFamily="34" charset="-122"/>
                <a:cs typeface="IBM Plex Sans" pitchFamily="34" charset="-120"/>
              </a:rPr>
              <a:t>Score 0–100 shown to the user = probability-weighted typical score of each level.</a:t>
            </a:r>
            <a:endParaRPr lang="en-US" sz="13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6"/>
                </a:solidFill>
                <a:latin typeface="JetBrains Mono" pitchFamily="49" charset="0"/>
                <a:ea typeface="JetBrains Mono" pitchFamily="49" charset="-122"/>
                <a:cs typeface="JetBrains Mono" pitchFamily="49" charset="-120"/>
              </a:rPr>
              <a:t>DevAscend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A3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3DD9EB"/>
                </a:solidFill>
                <a:latin typeface="JetBrains Mono" pitchFamily="49" charset="0"/>
                <a:ea typeface="JetBrains Mono" pitchFamily="49" charset="-122"/>
                <a:cs typeface="JetBrains Mono" pitchFamily="49" charset="-120"/>
              </a:rPr>
              <a:t>MACHINE LEARNING</a:t>
            </a:r>
            <a:endParaRPr lang="en-US" sz="1300" dirty="0"/>
          </a:p>
        </p:txBody>
      </p:sp>
      <p:sp>
        <p:nvSpPr>
          <p:cNvPr id="3" name="Text 1"/>
          <p:cNvSpPr/>
          <p:nvPr>
            <p:ph type="title"/>
          </p:nvPr>
        </p:nvSpPr>
        <p:spPr>
          <a:xfrm>
            <a:off x="812800" y="11200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EEF2F8"/>
                </a:solidFill>
                <a:latin typeface="Space Grotesk" pitchFamily="34" charset="0"/>
                <a:ea typeface="Space Grotesk" pitchFamily="34" charset="-122"/>
                <a:cs typeface="Space Grotesk" pitchFamily="34" charset="-120"/>
              </a:rPr>
              <a:t>Three algorithms compared for each model</a:t>
            </a:r>
            <a:endParaRPr lang="en-US" sz="3200" dirty="0"/>
          </a:p>
        </p:txBody>
      </p:sp>
      <p:sp>
        <p:nvSpPr>
          <p:cNvPr id="4" name="Text 2"/>
          <p:cNvSpPr/>
          <p:nvPr/>
        </p:nvSpPr>
        <p:spPr>
          <a:xfrm>
            <a:off x="812800" y="1841401"/>
            <a:ext cx="528472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DD9EB"/>
                </a:solidFill>
                <a:latin typeface="Space Grotesk" pitchFamily="34" charset="0"/>
                <a:ea typeface="Space Grotesk" pitchFamily="34" charset="-122"/>
                <a:cs typeface="Space Grotesk" pitchFamily="34" charset="-120"/>
              </a:rPr>
              <a:t>Model A: Level classifier</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99481"/>
          <a:ext cx="5118100" cy="1437084"/>
        </p:xfrm>
        <a:graphic>
          <a:graphicData uri="http://schemas.openxmlformats.org/drawingml/2006/table">
            <a:tbl>
              <a:tblPr/>
              <a:tblGrid>
                <a:gridCol w="2200783"/>
                <a:gridCol w="972439"/>
                <a:gridCol w="870077"/>
                <a:gridCol w="1074801"/>
              </a:tblGrid>
              <a:tr h="359271">
                <a:tc>
                  <a:txBody>
                    <a:bodyPr/>
                    <a:lstStyle/>
                    <a:p>
                      <a:pPr indent="0" marL="0">
                        <a:lnSpc>
                          <a:spcPts val="1820"/>
                        </a:lnSpc>
                        <a:buNone/>
                      </a:pPr>
                      <a:r>
                        <a:rPr lang="en-US" sz="1300" b="1" dirty="0">
                          <a:solidFill>
                            <a:srgbClr val="EEF2F8"/>
                          </a:solidFill>
                          <a:latin typeface="IBM Plex Sans" pitchFamily="34" charset="0"/>
                          <a:ea typeface="IBM Plex Sans" pitchFamily="34" charset="-122"/>
                          <a:cs typeface="IBM Plex Sans" pitchFamily="34" charset="-120"/>
                        </a:rPr>
                        <a:t>Algorithm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F5B7E"/>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F5B7E"/>
                      </a:solidFill>
                      <a:prstDash val="solid"/>
                      <a:round/>
                      <a:headEnd type="none" w="med" len="med"/>
                      <a:tailEnd type="none" w="med" len="med"/>
                    </a:lnB>
                    <a:solidFill>
                      <a:srgbClr val="1F2E5C"/>
                    </a:solidFill>
                  </a:tcPr>
                </a:tc>
                <a:tc>
                  <a:txBody>
                    <a:bodyPr/>
                    <a:lstStyle/>
                    <a:p>
                      <a:pPr algn="r" indent="0" marL="0">
                        <a:lnSpc>
                          <a:spcPts val="1820"/>
                        </a:lnSpc>
                        <a:buNone/>
                      </a:pPr>
                      <a:r>
                        <a:rPr lang="en-US" sz="1300" b="1" dirty="0">
                          <a:solidFill>
                            <a:srgbClr val="EEF2F8"/>
                          </a:solidFill>
                          <a:latin typeface="IBM Plex Sans" pitchFamily="34" charset="0"/>
                          <a:ea typeface="IBM Plex Sans" pitchFamily="34" charset="-122"/>
                          <a:cs typeface="IBM Plex Sans" pitchFamily="34" charset="-120"/>
                        </a:rPr>
                        <a:t>Accuracy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F5B7E"/>
                      </a:solidFill>
                      <a:prstDash val="solid"/>
                      <a:round/>
                      <a:headEnd type="none" w="med" len="med"/>
                      <a:tailEnd type="none" w="med" len="med"/>
                    </a:lnL>
                    <a:lnR w="12700" cap="flat" cmpd="sng" algn="ctr">
                      <a:solidFill>
                        <a:srgbClr val="4F5B7E"/>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F5B7E"/>
                      </a:solidFill>
                      <a:prstDash val="solid"/>
                      <a:round/>
                      <a:headEnd type="none" w="med" len="med"/>
                      <a:tailEnd type="none" w="med" len="med"/>
                    </a:lnB>
                    <a:solidFill>
                      <a:srgbClr val="1F2E5C"/>
                    </a:solidFill>
                  </a:tcPr>
                </a:tc>
                <a:tc>
                  <a:txBody>
                    <a:bodyPr/>
                    <a:lstStyle/>
                    <a:p>
                      <a:pPr algn="r" indent="0" marL="0">
                        <a:lnSpc>
                          <a:spcPts val="1820"/>
                        </a:lnSpc>
                        <a:buNone/>
                      </a:pPr>
                      <a:r>
                        <a:rPr lang="en-US" sz="1300" b="1" dirty="0">
                          <a:solidFill>
                            <a:srgbClr val="EEF2F8"/>
                          </a:solidFill>
                          <a:latin typeface="IBM Plex Sans" pitchFamily="34" charset="0"/>
                          <a:ea typeface="IBM Plex Sans" pitchFamily="34" charset="-122"/>
                          <a:cs typeface="IBM Plex Sans" pitchFamily="34" charset="-120"/>
                        </a:rPr>
                        <a:t>F1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F5B7E"/>
                      </a:solidFill>
                      <a:prstDash val="solid"/>
                      <a:round/>
                      <a:headEnd type="none" w="med" len="med"/>
                      <a:tailEnd type="none" w="med" len="med"/>
                    </a:lnL>
                    <a:lnR w="12700" cap="flat" cmpd="sng" algn="ctr">
                      <a:solidFill>
                        <a:srgbClr val="4F5B7E"/>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F5B7E"/>
                      </a:solidFill>
                      <a:prstDash val="solid"/>
                      <a:round/>
                      <a:headEnd type="none" w="med" len="med"/>
                      <a:tailEnd type="none" w="med" len="med"/>
                    </a:lnB>
                    <a:solidFill>
                      <a:srgbClr val="1F2E5C"/>
                    </a:solidFill>
                  </a:tcPr>
                </a:tc>
                <a:tc>
                  <a:txBody>
                    <a:bodyPr/>
                    <a:lstStyle/>
                    <a:p>
                      <a:pPr algn="r" indent="0" marL="0">
                        <a:lnSpc>
                          <a:spcPts val="1820"/>
                        </a:lnSpc>
                        <a:buNone/>
                      </a:pPr>
                      <a:r>
                        <a:rPr lang="en-US" sz="1300" b="1" dirty="0">
                          <a:solidFill>
                            <a:srgbClr val="EEF2F8"/>
                          </a:solidFill>
                          <a:latin typeface="IBM Plex Sans" pitchFamily="34" charset="0"/>
                          <a:ea typeface="IBM Plex Sans" pitchFamily="34" charset="-122"/>
                          <a:cs typeface="IBM Plex Sans" pitchFamily="34" charset="-120"/>
                        </a:rPr>
                        <a:t>±1 level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F5B7E"/>
                      </a:solidFill>
                      <a:prstDash val="solid"/>
                      <a:round/>
                      <a:headEnd type="none" w="med" len="med"/>
                      <a:tailEnd type="none" w="med" len="med"/>
                    </a:lnL>
                    <a:lnR w="12700" cap="flat" cmpd="sng" algn="ctr">
                      <a:solidFill>
                        <a:srgbClr val="4F5B7E"/>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F5B7E"/>
                      </a:solidFill>
                      <a:prstDash val="solid"/>
                      <a:round/>
                      <a:headEnd type="none" w="med" len="med"/>
                      <a:tailEnd type="none" w="med" len="med"/>
                    </a:lnB>
                    <a:solidFill>
                      <a:srgbClr val="1F2E5C"/>
                    </a:solidFill>
                  </a:tcPr>
                </a:tc>
              </a:tr>
              <a:tr h="359271">
                <a:tc>
                  <a:txBody>
                    <a:bodyPr/>
                    <a:lstStyle/>
                    <a:p>
                      <a:pP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Logistic Regression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F5B7E"/>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62.2%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F5B7E"/>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0.603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F5B7E"/>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97.9%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F5B7E"/>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r>
              <a:tr h="359271">
                <a:tc>
                  <a:txBody>
                    <a:bodyPr/>
                    <a:lstStyle/>
                    <a:p>
                      <a:pP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Random Forest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63.3%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0.623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97.9%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r>
              <a:tr h="359271">
                <a:tc>
                  <a:txBody>
                    <a:bodyPr/>
                    <a:lstStyle/>
                    <a:p>
                      <a:pP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XGBoost (best)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B6470"/>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B6470"/>
                      </a:solidFill>
                      <a:prstDash val="solid"/>
                      <a:round/>
                      <a:headEnd type="none" w="med" len="med"/>
                      <a:tailEnd type="none" w="med" len="med"/>
                    </a:lnB>
                    <a:solidFill>
                      <a:srgbClr val="1A3A4A"/>
                    </a:solidFill>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65.2%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B6470"/>
                      </a:solidFill>
                      <a:prstDash val="solid"/>
                      <a:round/>
                      <a:headEnd type="none" w="med" len="med"/>
                      <a:tailEnd type="none" w="med" len="med"/>
                    </a:lnL>
                    <a:lnR w="12700" cap="flat" cmpd="sng" algn="ctr">
                      <a:solidFill>
                        <a:srgbClr val="4B6470"/>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B6470"/>
                      </a:solidFill>
                      <a:prstDash val="solid"/>
                      <a:round/>
                      <a:headEnd type="none" w="med" len="med"/>
                      <a:tailEnd type="none" w="med" len="med"/>
                    </a:lnB>
                    <a:solidFill>
                      <a:srgbClr val="1A3A4A"/>
                    </a:solidFill>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0.646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B6470"/>
                      </a:solidFill>
                      <a:prstDash val="solid"/>
                      <a:round/>
                      <a:headEnd type="none" w="med" len="med"/>
                      <a:tailEnd type="none" w="med" len="med"/>
                    </a:lnL>
                    <a:lnR w="12700" cap="flat" cmpd="sng" algn="ctr">
                      <a:solidFill>
                        <a:srgbClr val="4B6470"/>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B6470"/>
                      </a:solidFill>
                      <a:prstDash val="solid"/>
                      <a:round/>
                      <a:headEnd type="none" w="med" len="med"/>
                      <a:tailEnd type="none" w="med" len="med"/>
                    </a:lnB>
                    <a:solidFill>
                      <a:srgbClr val="1A3A4A"/>
                    </a:solidFill>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97.9%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B6470"/>
                      </a:solidFill>
                      <a:prstDash val="solid"/>
                      <a:round/>
                      <a:headEnd type="none" w="med" len="med"/>
                      <a:tailEnd type="none" w="med" len="med"/>
                    </a:lnL>
                    <a:lnR w="12700" cap="flat" cmpd="sng" algn="ctr">
                      <a:solidFill>
                        <a:srgbClr val="4B6470"/>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B6470"/>
                      </a:solidFill>
                      <a:prstDash val="solid"/>
                      <a:round/>
                      <a:headEnd type="none" w="med" len="med"/>
                      <a:tailEnd type="none" w="med" len="med"/>
                    </a:lnB>
                    <a:solidFill>
                      <a:srgbClr val="1A3A4A"/>
                    </a:solidFill>
                  </a:tcPr>
                </a:tc>
              </a:tr>
            </a:tbl>
          </a:graphicData>
        </a:graphic>
      </p:graphicFrame>
      <p:sp>
        <p:nvSpPr>
          <p:cNvPr id="6" name="Text 3"/>
          <p:cNvSpPr/>
          <p:nvPr/>
        </p:nvSpPr>
        <p:spPr>
          <a:xfrm>
            <a:off x="6248400" y="1841401"/>
            <a:ext cx="528472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8CFF"/>
                </a:solidFill>
                <a:latin typeface="Space Grotesk" pitchFamily="34" charset="0"/>
                <a:ea typeface="Space Grotesk" pitchFamily="34" charset="-122"/>
                <a:cs typeface="Space Grotesk" pitchFamily="34" charset="-120"/>
              </a:rPr>
              <a:t>Model B: Market value regressor</a:t>
            </a:r>
            <a:endParaRPr lang="en-US" sz="16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261100" y="2199481"/>
          <a:ext cx="5118100" cy="1437084"/>
        </p:xfrm>
        <a:graphic>
          <a:graphicData uri="http://schemas.openxmlformats.org/drawingml/2006/table">
            <a:tbl>
              <a:tblPr/>
              <a:tblGrid>
                <a:gridCol w="2047240"/>
                <a:gridCol w="921258"/>
                <a:gridCol w="1074801"/>
                <a:gridCol w="1074801"/>
              </a:tblGrid>
              <a:tr h="359271">
                <a:tc>
                  <a:txBody>
                    <a:bodyPr/>
                    <a:lstStyle/>
                    <a:p>
                      <a:pPr indent="0" marL="0">
                        <a:lnSpc>
                          <a:spcPts val="1820"/>
                        </a:lnSpc>
                        <a:buNone/>
                      </a:pPr>
                      <a:r>
                        <a:rPr lang="en-US" sz="1300" b="1" dirty="0">
                          <a:solidFill>
                            <a:srgbClr val="EEF2F8"/>
                          </a:solidFill>
                          <a:latin typeface="IBM Plex Sans" pitchFamily="34" charset="0"/>
                          <a:ea typeface="IBM Plex Sans" pitchFamily="34" charset="-122"/>
                          <a:cs typeface="IBM Plex Sans" pitchFamily="34" charset="-120"/>
                        </a:rPr>
                        <a:t>Algorithm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F5B7E"/>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F5B7E"/>
                      </a:solidFill>
                      <a:prstDash val="solid"/>
                      <a:round/>
                      <a:headEnd type="none" w="med" len="med"/>
                      <a:tailEnd type="none" w="med" len="med"/>
                    </a:lnB>
                    <a:solidFill>
                      <a:srgbClr val="1F2E5C"/>
                    </a:solidFill>
                  </a:tcPr>
                </a:tc>
                <a:tc>
                  <a:txBody>
                    <a:bodyPr/>
                    <a:lstStyle/>
                    <a:p>
                      <a:pPr algn="r" indent="0" marL="0">
                        <a:lnSpc>
                          <a:spcPts val="1820"/>
                        </a:lnSpc>
                        <a:buNone/>
                      </a:pPr>
                      <a:r>
                        <a:rPr lang="en-US" sz="1300" b="1" dirty="0">
                          <a:solidFill>
                            <a:srgbClr val="EEF2F8"/>
                          </a:solidFill>
                          <a:latin typeface="IBM Plex Sans" pitchFamily="34" charset="0"/>
                          <a:ea typeface="IBM Plex Sans" pitchFamily="34" charset="-122"/>
                          <a:cs typeface="IBM Plex Sans" pitchFamily="34" charset="-120"/>
                        </a:rPr>
                        <a:t>R² (log)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F5B7E"/>
                      </a:solidFill>
                      <a:prstDash val="solid"/>
                      <a:round/>
                      <a:headEnd type="none" w="med" len="med"/>
                      <a:tailEnd type="none" w="med" len="med"/>
                    </a:lnL>
                    <a:lnR w="12700" cap="flat" cmpd="sng" algn="ctr">
                      <a:solidFill>
                        <a:srgbClr val="4F5B7E"/>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F5B7E"/>
                      </a:solidFill>
                      <a:prstDash val="solid"/>
                      <a:round/>
                      <a:headEnd type="none" w="med" len="med"/>
                      <a:tailEnd type="none" w="med" len="med"/>
                    </a:lnB>
                    <a:solidFill>
                      <a:srgbClr val="1F2E5C"/>
                    </a:solidFill>
                  </a:tcPr>
                </a:tc>
                <a:tc>
                  <a:txBody>
                    <a:bodyPr/>
                    <a:lstStyle/>
                    <a:p>
                      <a:pPr algn="r" indent="0" marL="0">
                        <a:lnSpc>
                          <a:spcPts val="1820"/>
                        </a:lnSpc>
                        <a:buNone/>
                      </a:pPr>
                      <a:r>
                        <a:rPr lang="en-US" sz="1300" b="1" dirty="0">
                          <a:solidFill>
                            <a:srgbClr val="EEF2F8"/>
                          </a:solidFill>
                          <a:latin typeface="IBM Plex Sans" pitchFamily="34" charset="0"/>
                          <a:ea typeface="IBM Plex Sans" pitchFamily="34" charset="-122"/>
                          <a:cs typeface="IBM Plex Sans" pitchFamily="34" charset="-120"/>
                        </a:rPr>
                        <a:t>MAE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F5B7E"/>
                      </a:solidFill>
                      <a:prstDash val="solid"/>
                      <a:round/>
                      <a:headEnd type="none" w="med" len="med"/>
                      <a:tailEnd type="none" w="med" len="med"/>
                    </a:lnL>
                    <a:lnR w="12700" cap="flat" cmpd="sng" algn="ctr">
                      <a:solidFill>
                        <a:srgbClr val="4F5B7E"/>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F5B7E"/>
                      </a:solidFill>
                      <a:prstDash val="solid"/>
                      <a:round/>
                      <a:headEnd type="none" w="med" len="med"/>
                      <a:tailEnd type="none" w="med" len="med"/>
                    </a:lnB>
                    <a:solidFill>
                      <a:srgbClr val="1F2E5C"/>
                    </a:solidFill>
                  </a:tcPr>
                </a:tc>
                <a:tc>
                  <a:txBody>
                    <a:bodyPr/>
                    <a:lstStyle/>
                    <a:p>
                      <a:pPr algn="r" indent="0" marL="0">
                        <a:lnSpc>
                          <a:spcPts val="1820"/>
                        </a:lnSpc>
                        <a:buNone/>
                      </a:pPr>
                      <a:r>
                        <a:rPr lang="en-US" sz="1300" b="1" dirty="0">
                          <a:solidFill>
                            <a:srgbClr val="EEF2F8"/>
                          </a:solidFill>
                          <a:latin typeface="IBM Plex Sans" pitchFamily="34" charset="0"/>
                          <a:ea typeface="IBM Plex Sans" pitchFamily="34" charset="-122"/>
                          <a:cs typeface="IBM Plex Sans" pitchFamily="34" charset="-120"/>
                        </a:rPr>
                        <a:t>RMSE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F5B7E"/>
                      </a:solidFill>
                      <a:prstDash val="solid"/>
                      <a:round/>
                      <a:headEnd type="none" w="med" len="med"/>
                      <a:tailEnd type="none" w="med" len="med"/>
                    </a:lnL>
                    <a:lnR w="12700" cap="flat" cmpd="sng" algn="ctr">
                      <a:solidFill>
                        <a:srgbClr val="4F5B7E"/>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F5B7E"/>
                      </a:solidFill>
                      <a:prstDash val="solid"/>
                      <a:round/>
                      <a:headEnd type="none" w="med" len="med"/>
                      <a:tailEnd type="none" w="med" len="med"/>
                    </a:lnB>
                    <a:solidFill>
                      <a:srgbClr val="1F2E5C"/>
                    </a:solidFill>
                  </a:tcPr>
                </a:tc>
              </a:tr>
              <a:tr h="359271">
                <a:tc>
                  <a:txBody>
                    <a:bodyPr/>
                    <a:lstStyle/>
                    <a:p>
                      <a:pP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Linear Regression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F5B7E"/>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0.584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F5B7E"/>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$31,089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F5B7E"/>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$56,327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F5B7E"/>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r>
              <a:tr h="359271">
                <a:tc>
                  <a:txBody>
                    <a:bodyPr/>
                    <a:lstStyle/>
                    <a:p>
                      <a:pP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Random Forest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0.633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$28,401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$52,959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454B5B"/>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454B5B"/>
                      </a:solidFill>
                      <a:prstDash val="solid"/>
                      <a:round/>
                      <a:headEnd type="none" w="med" len="med"/>
                      <a:tailEnd type="none" w="med" len="med"/>
                    </a:lnB>
                  </a:tcPr>
                </a:tc>
              </a:tr>
              <a:tr h="359271">
                <a:tc>
                  <a:txBody>
                    <a:bodyPr/>
                    <a:lstStyle/>
                    <a:p>
                      <a:pP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XGBoost (best)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4B5B"/>
                      </a:solidFill>
                      <a:prstDash val="solid"/>
                      <a:round/>
                      <a:headEnd type="none" w="med" len="med"/>
                      <a:tailEnd type="none" w="med" len="med"/>
                    </a:lnL>
                    <a:lnR w="12700" cap="flat" cmpd="sng" algn="ctr">
                      <a:solidFill>
                        <a:srgbClr val="585474"/>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585474"/>
                      </a:solidFill>
                      <a:prstDash val="solid"/>
                      <a:round/>
                      <a:headEnd type="none" w="med" len="med"/>
                      <a:tailEnd type="none" w="med" len="med"/>
                    </a:lnB>
                    <a:solidFill>
                      <a:srgbClr val="2A2650"/>
                    </a:solidFill>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0.649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585474"/>
                      </a:solidFill>
                      <a:prstDash val="solid"/>
                      <a:round/>
                      <a:headEnd type="none" w="med" len="med"/>
                      <a:tailEnd type="none" w="med" len="med"/>
                    </a:lnL>
                    <a:lnR w="12700" cap="flat" cmpd="sng" algn="ctr">
                      <a:solidFill>
                        <a:srgbClr val="585474"/>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585474"/>
                      </a:solidFill>
                      <a:prstDash val="solid"/>
                      <a:round/>
                      <a:headEnd type="none" w="med" len="med"/>
                      <a:tailEnd type="none" w="med" len="med"/>
                    </a:lnB>
                    <a:solidFill>
                      <a:srgbClr val="2A2650"/>
                    </a:solidFill>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$27,810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585474"/>
                      </a:solidFill>
                      <a:prstDash val="solid"/>
                      <a:round/>
                      <a:headEnd type="none" w="med" len="med"/>
                      <a:tailEnd type="none" w="med" len="med"/>
                    </a:lnL>
                    <a:lnR w="12700" cap="flat" cmpd="sng" algn="ctr">
                      <a:solidFill>
                        <a:srgbClr val="585474"/>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585474"/>
                      </a:solidFill>
                      <a:prstDash val="solid"/>
                      <a:round/>
                      <a:headEnd type="none" w="med" len="med"/>
                      <a:tailEnd type="none" w="med" len="med"/>
                    </a:lnB>
                    <a:solidFill>
                      <a:srgbClr val="2A2650"/>
                    </a:solidFill>
                  </a:tcPr>
                </a:tc>
                <a:tc>
                  <a:txBody>
                    <a:bodyPr/>
                    <a:lstStyle/>
                    <a:p>
                      <a:pPr algn="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$52,049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585474"/>
                      </a:solidFill>
                      <a:prstDash val="solid"/>
                      <a:round/>
                      <a:headEnd type="none" w="med" len="med"/>
                      <a:tailEnd type="none" w="med" len="med"/>
                    </a:lnL>
                    <a:lnR w="12700" cap="flat" cmpd="sng" algn="ctr">
                      <a:solidFill>
                        <a:srgbClr val="585474"/>
                      </a:solidFill>
                      <a:prstDash val="solid"/>
                      <a:round/>
                      <a:headEnd type="none" w="med" len="med"/>
                      <a:tailEnd type="none" w="med" len="med"/>
                    </a:lnR>
                    <a:lnT w="12700" cap="flat" cmpd="sng" algn="ctr">
                      <a:solidFill>
                        <a:srgbClr val="454B5B"/>
                      </a:solidFill>
                      <a:prstDash val="solid"/>
                      <a:round/>
                      <a:headEnd type="none" w="med" len="med"/>
                      <a:tailEnd type="none" w="med" len="med"/>
                    </a:lnT>
                    <a:lnB w="12700" cap="flat" cmpd="sng" algn="ctr">
                      <a:solidFill>
                        <a:srgbClr val="585474"/>
                      </a:solidFill>
                      <a:prstDash val="solid"/>
                      <a:round/>
                      <a:headEnd type="none" w="med" len="med"/>
                      <a:tailEnd type="none" w="med" len="med"/>
                    </a:lnB>
                    <a:solidFill>
                      <a:srgbClr val="2A2650"/>
                    </a:solidFill>
                  </a:tcPr>
                </a:tc>
              </a:tr>
            </a:tbl>
          </a:graphicData>
        </a:graphic>
      </p:graphicFrame>
      <p:sp>
        <p:nvSpPr>
          <p:cNvPr id="8" name="Text 4"/>
          <p:cNvSpPr/>
          <p:nvPr/>
        </p:nvSpPr>
        <p:spPr>
          <a:xfrm>
            <a:off x="815975" y="3893741"/>
            <a:ext cx="3414117" cy="773311"/>
          </a:xfrm>
          <a:prstGeom prst="roundRect">
            <a:avLst>
              <a:gd name="adj" fmla="val 12728"/>
            </a:avLst>
          </a:prstGeom>
          <a:solidFill>
            <a:srgbClr val="1A2440"/>
          </a:solidFill>
          <a:ln w="6350">
            <a:solidFill>
              <a:srgbClr val="2A3A63"/>
            </a:solidFill>
            <a:prstDash val="solid"/>
          </a:ln>
        </p:spPr>
        <p:txBody>
          <a:bodyPr wrap="square" lIns="126747" tIns="126747" rIns="33658" bIns="101347" rtlCol="0" anchor="t">
            <a:normAutofit/>
          </a:bodyPr>
          <a:lstStyle/>
          <a:p>
            <a:pPr algn="l" indent="0" marL="0">
              <a:lnSpc>
                <a:spcPts val="1820"/>
              </a:lnSpc>
              <a:buNone/>
            </a:pPr>
            <a:r>
              <a:rPr lang="en-US" sz="1300" b="1" dirty="0">
                <a:solidFill>
                  <a:srgbClr val="B7C2D9"/>
                </a:solidFill>
                <a:latin typeface="IBM Plex Sans" pitchFamily="34" charset="0"/>
                <a:ea typeface="IBM Plex Sans" pitchFamily="34" charset="-122"/>
                <a:cs typeface="IBM Plex Sans" pitchFamily="34" charset="-120"/>
              </a:rPr>
              <a:t>Linear</a:t>
            </a:r>
            <a:r>
              <a:rPr lang="en-US" sz="1300" dirty="0">
                <a:solidFill>
                  <a:srgbClr val="B7C2D9"/>
                </a:solidFill>
                <a:latin typeface="IBM Plex Sans" pitchFamily="34" charset="0"/>
                <a:ea typeface="IBM Plex Sans" pitchFamily="34" charset="-122"/>
                <a:cs typeface="IBM Plex Sans" pitchFamily="34" charset="-120"/>
              </a:rPr>
              <a:t>: weighted sum of features, a simple baseline</a:t>
            </a:r>
            <a:endParaRPr lang="en-US" sz="1300" dirty="0"/>
          </a:p>
        </p:txBody>
      </p:sp>
      <p:sp>
        <p:nvSpPr>
          <p:cNvPr id="9" name="Text 5"/>
          <p:cNvSpPr/>
          <p:nvPr/>
        </p:nvSpPr>
        <p:spPr>
          <a:xfrm>
            <a:off x="4388842" y="3893741"/>
            <a:ext cx="3414216" cy="773311"/>
          </a:xfrm>
          <a:prstGeom prst="roundRect">
            <a:avLst>
              <a:gd name="adj" fmla="val 12728"/>
            </a:avLst>
          </a:prstGeom>
          <a:solidFill>
            <a:srgbClr val="1A2440"/>
          </a:solidFill>
          <a:ln w="6350">
            <a:solidFill>
              <a:srgbClr val="2A3A63"/>
            </a:solidFill>
            <a:prstDash val="solid"/>
          </a:ln>
        </p:spPr>
        <p:txBody>
          <a:bodyPr wrap="square" lIns="126747" tIns="126747" rIns="33655" bIns="101347" rtlCol="0" anchor="t">
            <a:normAutofit/>
          </a:bodyPr>
          <a:lstStyle/>
          <a:p>
            <a:pPr algn="l" indent="0" marL="0">
              <a:lnSpc>
                <a:spcPts val="1820"/>
              </a:lnSpc>
              <a:buNone/>
            </a:pPr>
            <a:r>
              <a:rPr lang="en-US" sz="1300" b="1" dirty="0">
                <a:solidFill>
                  <a:srgbClr val="B7C2D9"/>
                </a:solidFill>
                <a:latin typeface="IBM Plex Sans" pitchFamily="34" charset="0"/>
                <a:ea typeface="IBM Plex Sans" pitchFamily="34" charset="-122"/>
                <a:cs typeface="IBM Plex Sans" pitchFamily="34" charset="-120"/>
              </a:rPr>
              <a:t>Random Forest</a:t>
            </a:r>
            <a:r>
              <a:rPr lang="en-US" sz="1300" dirty="0">
                <a:solidFill>
                  <a:srgbClr val="B7C2D9"/>
                </a:solidFill>
                <a:latin typeface="IBM Plex Sans" pitchFamily="34" charset="0"/>
                <a:ea typeface="IBM Plex Sans" pitchFamily="34" charset="-122"/>
                <a:cs typeface="IBM Plex Sans" pitchFamily="34" charset="-120"/>
              </a:rPr>
              <a:t>: many trees trained in parallel that vote (bagging)</a:t>
            </a:r>
            <a:endParaRPr lang="en-US" sz="1300" dirty="0"/>
          </a:p>
        </p:txBody>
      </p:sp>
      <p:sp>
        <p:nvSpPr>
          <p:cNvPr id="10" name="Text 6"/>
          <p:cNvSpPr/>
          <p:nvPr/>
        </p:nvSpPr>
        <p:spPr>
          <a:xfrm>
            <a:off x="7961809" y="3893741"/>
            <a:ext cx="3414216" cy="773311"/>
          </a:xfrm>
          <a:prstGeom prst="roundRect">
            <a:avLst>
              <a:gd name="adj" fmla="val 12728"/>
            </a:avLst>
          </a:prstGeom>
          <a:solidFill>
            <a:srgbClr val="1A2440"/>
          </a:solidFill>
          <a:ln w="6350">
            <a:solidFill>
              <a:srgbClr val="2A3A63"/>
            </a:solidFill>
            <a:prstDash val="solid"/>
          </a:ln>
        </p:spPr>
        <p:txBody>
          <a:bodyPr wrap="square" lIns="126747" tIns="126747" rIns="33655" bIns="101347" rtlCol="0" anchor="t">
            <a:normAutofit/>
          </a:bodyPr>
          <a:lstStyle/>
          <a:p>
            <a:pPr algn="l" indent="0" marL="0">
              <a:lnSpc>
                <a:spcPts val="1820"/>
              </a:lnSpc>
              <a:buNone/>
            </a:pPr>
            <a:r>
              <a:rPr lang="en-US" sz="1300" b="1" dirty="0">
                <a:solidFill>
                  <a:srgbClr val="B7C2D9"/>
                </a:solidFill>
                <a:latin typeface="IBM Plex Sans" pitchFamily="34" charset="0"/>
                <a:ea typeface="IBM Plex Sans" pitchFamily="34" charset="-122"/>
                <a:cs typeface="IBM Plex Sans" pitchFamily="34" charset="-120"/>
              </a:rPr>
              <a:t>XGBoost</a:t>
            </a:r>
            <a:r>
              <a:rPr lang="en-US" sz="1300" dirty="0">
                <a:solidFill>
                  <a:srgbClr val="B7C2D9"/>
                </a:solidFill>
                <a:latin typeface="IBM Plex Sans" pitchFamily="34" charset="0"/>
                <a:ea typeface="IBM Plex Sans" pitchFamily="34" charset="-122"/>
                <a:cs typeface="IBM Plex Sans" pitchFamily="34" charset="-120"/>
              </a:rPr>
              <a:t>: trees built one after another, each fixing earlier errors (boosting)</a:t>
            </a:r>
            <a:endParaRPr lang="en-US" sz="1300" dirty="0"/>
          </a:p>
        </p:txBody>
      </p:sp>
      <p:sp>
        <p:nvSpPr>
          <p:cNvPr id="11" name="Text 7"/>
          <p:cNvSpPr/>
          <p:nvPr/>
        </p:nvSpPr>
        <p:spPr>
          <a:xfrm>
            <a:off x="812800" y="492422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2D9"/>
                </a:solidFill>
                <a:latin typeface="IBM Plex Sans" pitchFamily="34" charset="0"/>
                <a:ea typeface="IBM Plex Sans" pitchFamily="34" charset="-122"/>
                <a:cs typeface="IBM Plex Sans" pitchFamily="34" charset="-120"/>
              </a:rPr>
              <a:t>Same 80/20 split for all six: 122,916 developers to train, 30,729 to test. Salary is learned as log(salary).</a:t>
            </a:r>
            <a:endParaRPr lang="en-US" sz="1300" dirty="0"/>
          </a:p>
        </p:txBody>
      </p:sp>
      <p:sp>
        <p:nvSpPr>
          <p:cNvPr id="12"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6"/>
                </a:solidFill>
                <a:latin typeface="JetBrains Mono" pitchFamily="49" charset="0"/>
                <a:ea typeface="JetBrains Mono" pitchFamily="49" charset="-122"/>
                <a:cs typeface="JetBrains Mono" pitchFamily="49" charset="-120"/>
              </a:rPr>
              <a:t>DevAscend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3DD9EB"/>
                </a:solidFill>
                <a:latin typeface="JetBrains Mono" pitchFamily="49" charset="0"/>
                <a:ea typeface="JetBrains Mono" pitchFamily="49" charset="-122"/>
                <a:cs typeface="JetBrains Mono" pitchFamily="49" charset="-120"/>
              </a:rPr>
              <a:t>EVALUATION</a:t>
            </a:r>
            <a:endParaRPr lang="en-US" sz="1300" dirty="0"/>
          </a:p>
        </p:txBody>
      </p:sp>
      <p:sp>
        <p:nvSpPr>
          <p:cNvPr id="3" name="Text 1"/>
          <p:cNvSpPr/>
          <p:nvPr>
            <p:ph type="title"/>
          </p:nvPr>
        </p:nvSpPr>
        <p:spPr>
          <a:xfrm>
            <a:off x="812800" y="11200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EEF2F8"/>
                </a:solidFill>
                <a:latin typeface="Space Grotesk" pitchFamily="34" charset="0"/>
                <a:ea typeface="Space Grotesk" pitchFamily="34" charset="-122"/>
                <a:cs typeface="Space Grotesk" pitchFamily="34" charset="-120"/>
              </a:rPr>
              <a:t>Tested on 30,729 developers the model never saw</a:t>
            </a:r>
            <a:endParaRPr lang="en-US" sz="3200" dirty="0"/>
          </a:p>
        </p:txBody>
      </p:sp>
      <p:sp>
        <p:nvSpPr>
          <p:cNvPr id="4" name="Text 2"/>
          <p:cNvSpPr/>
          <p:nvPr/>
        </p:nvSpPr>
        <p:spPr>
          <a:xfrm>
            <a:off x="812800" y="1841401"/>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D9EB"/>
                </a:solidFill>
                <a:latin typeface="IBM Plex Sans" pitchFamily="34" charset="0"/>
                <a:ea typeface="IBM Plex Sans" pitchFamily="34" charset="-122"/>
                <a:cs typeface="IBM Plex Sans" pitchFamily="34" charset="-120"/>
              </a:rPr>
              <a:t>Model A: level</a:t>
            </a:r>
            <a:endParaRPr lang="en-US" sz="1300" dirty="0"/>
          </a:p>
        </p:txBody>
      </p:sp>
      <p:sp>
        <p:nvSpPr>
          <p:cNvPr id="5" name="Shape 3"/>
          <p:cNvSpPr/>
          <p:nvPr/>
        </p:nvSpPr>
        <p:spPr>
          <a:xfrm>
            <a:off x="815975" y="2177256"/>
            <a:ext cx="2520950" cy="1179711"/>
          </a:xfrm>
          <a:prstGeom prst="roundRect">
            <a:avLst>
              <a:gd name="adj" fmla="val 10496"/>
            </a:avLst>
          </a:prstGeom>
          <a:solidFill>
            <a:srgbClr val="1A2440"/>
          </a:solidFill>
          <a:ln w="6350">
            <a:solidFill>
              <a:srgbClr val="2A3A63"/>
            </a:solidFill>
            <a:prstDash val="solid"/>
          </a:ln>
        </p:spPr>
      </p:sp>
      <p:sp>
        <p:nvSpPr>
          <p:cNvPr id="6" name="Text 4"/>
          <p:cNvSpPr/>
          <p:nvPr/>
        </p:nvSpPr>
        <p:spPr>
          <a:xfrm>
            <a:off x="1022350" y="2383631"/>
            <a:ext cx="217144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EF2F8"/>
                </a:solidFill>
                <a:latin typeface="Space Grotesk" pitchFamily="34" charset="0"/>
                <a:ea typeface="Space Grotesk" pitchFamily="34" charset="-122"/>
                <a:cs typeface="Space Grotesk" pitchFamily="34" charset="-120"/>
              </a:rPr>
              <a:t>65.2%</a:t>
            </a:r>
            <a:endParaRPr lang="en-US" sz="3600" dirty="0"/>
          </a:p>
        </p:txBody>
      </p:sp>
      <p:sp>
        <p:nvSpPr>
          <p:cNvPr id="7" name="Text 5"/>
          <p:cNvSpPr/>
          <p:nvPr/>
        </p:nvSpPr>
        <p:spPr>
          <a:xfrm>
            <a:off x="1022350" y="2937272"/>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exact level (guessing: 30.0%)</a:t>
            </a:r>
            <a:endParaRPr lang="en-US" sz="1200" dirty="0"/>
          </a:p>
        </p:txBody>
      </p:sp>
      <p:sp>
        <p:nvSpPr>
          <p:cNvPr id="8" name="Shape 6"/>
          <p:cNvSpPr/>
          <p:nvPr/>
        </p:nvSpPr>
        <p:spPr>
          <a:xfrm>
            <a:off x="3495675" y="2177256"/>
            <a:ext cx="2520950" cy="1179711"/>
          </a:xfrm>
          <a:prstGeom prst="roundRect">
            <a:avLst>
              <a:gd name="adj" fmla="val 10496"/>
            </a:avLst>
          </a:prstGeom>
          <a:solidFill>
            <a:srgbClr val="1A2440"/>
          </a:solidFill>
          <a:ln w="6350">
            <a:solidFill>
              <a:srgbClr val="2A3A63"/>
            </a:solidFill>
            <a:prstDash val="solid"/>
          </a:ln>
        </p:spPr>
      </p:sp>
      <p:sp>
        <p:nvSpPr>
          <p:cNvPr id="9" name="Text 7"/>
          <p:cNvSpPr/>
          <p:nvPr/>
        </p:nvSpPr>
        <p:spPr>
          <a:xfrm>
            <a:off x="3702050" y="2383631"/>
            <a:ext cx="217144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EF2F8"/>
                </a:solidFill>
                <a:latin typeface="Space Grotesk" pitchFamily="34" charset="0"/>
                <a:ea typeface="Space Grotesk" pitchFamily="34" charset="-122"/>
                <a:cs typeface="Space Grotesk" pitchFamily="34" charset="-120"/>
              </a:rPr>
              <a:t>97.9%</a:t>
            </a:r>
            <a:endParaRPr lang="en-US" sz="3600" dirty="0"/>
          </a:p>
        </p:txBody>
      </p:sp>
      <p:sp>
        <p:nvSpPr>
          <p:cNvPr id="10" name="Text 8"/>
          <p:cNvSpPr/>
          <p:nvPr/>
        </p:nvSpPr>
        <p:spPr>
          <a:xfrm>
            <a:off x="3702050" y="2937272"/>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within one level</a:t>
            </a:r>
            <a:endParaRPr lang="en-US" sz="1200" dirty="0"/>
          </a:p>
        </p:txBody>
      </p:sp>
      <p:sp>
        <p:nvSpPr>
          <p:cNvPr id="11" name="Shape 9"/>
          <p:cNvSpPr/>
          <p:nvPr/>
        </p:nvSpPr>
        <p:spPr>
          <a:xfrm>
            <a:off x="6175375" y="2177256"/>
            <a:ext cx="2520950" cy="1179711"/>
          </a:xfrm>
          <a:prstGeom prst="roundRect">
            <a:avLst>
              <a:gd name="adj" fmla="val 10496"/>
            </a:avLst>
          </a:prstGeom>
          <a:solidFill>
            <a:srgbClr val="1A2440"/>
          </a:solidFill>
          <a:ln w="6350">
            <a:solidFill>
              <a:srgbClr val="2A3A63"/>
            </a:solidFill>
            <a:prstDash val="solid"/>
          </a:ln>
        </p:spPr>
      </p:sp>
      <p:sp>
        <p:nvSpPr>
          <p:cNvPr id="12" name="Text 10"/>
          <p:cNvSpPr/>
          <p:nvPr/>
        </p:nvSpPr>
        <p:spPr>
          <a:xfrm>
            <a:off x="6381750" y="2383631"/>
            <a:ext cx="217144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EF2F8"/>
                </a:solidFill>
                <a:latin typeface="Space Grotesk" pitchFamily="34" charset="0"/>
                <a:ea typeface="Space Grotesk" pitchFamily="34" charset="-122"/>
                <a:cs typeface="Space Grotesk" pitchFamily="34" charset="-120"/>
              </a:rPr>
              <a:t>0.646</a:t>
            </a:r>
            <a:endParaRPr lang="en-US" sz="3600" dirty="0"/>
          </a:p>
        </p:txBody>
      </p:sp>
      <p:sp>
        <p:nvSpPr>
          <p:cNvPr id="13" name="Text 11"/>
          <p:cNvSpPr/>
          <p:nvPr/>
        </p:nvSpPr>
        <p:spPr>
          <a:xfrm>
            <a:off x="6381750" y="2937272"/>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F1 score (macro)</a:t>
            </a:r>
            <a:endParaRPr lang="en-US" sz="1200" dirty="0"/>
          </a:p>
        </p:txBody>
      </p:sp>
      <p:sp>
        <p:nvSpPr>
          <p:cNvPr id="14" name="Shape 12"/>
          <p:cNvSpPr/>
          <p:nvPr/>
        </p:nvSpPr>
        <p:spPr>
          <a:xfrm>
            <a:off x="8855075" y="2177256"/>
            <a:ext cx="2520950" cy="1179711"/>
          </a:xfrm>
          <a:prstGeom prst="roundRect">
            <a:avLst>
              <a:gd name="adj" fmla="val 10496"/>
            </a:avLst>
          </a:prstGeom>
          <a:solidFill>
            <a:srgbClr val="1A2440"/>
          </a:solidFill>
          <a:ln w="6350">
            <a:solidFill>
              <a:srgbClr val="2A3A63"/>
            </a:solidFill>
            <a:prstDash val="solid"/>
          </a:ln>
        </p:spPr>
      </p:sp>
      <p:sp>
        <p:nvSpPr>
          <p:cNvPr id="15" name="Text 13"/>
          <p:cNvSpPr/>
          <p:nvPr/>
        </p:nvSpPr>
        <p:spPr>
          <a:xfrm>
            <a:off x="9061450" y="2383631"/>
            <a:ext cx="217144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EF2F8"/>
                </a:solidFill>
                <a:latin typeface="Space Grotesk" pitchFamily="34" charset="0"/>
                <a:ea typeface="Space Grotesk" pitchFamily="34" charset="-122"/>
                <a:cs typeface="Space Grotesk" pitchFamily="34" charset="-120"/>
              </a:rPr>
              <a:t>2.1%</a:t>
            </a:r>
            <a:endParaRPr lang="en-US" sz="3600" dirty="0"/>
          </a:p>
        </p:txBody>
      </p:sp>
      <p:sp>
        <p:nvSpPr>
          <p:cNvPr id="16" name="Text 14"/>
          <p:cNvSpPr/>
          <p:nvPr/>
        </p:nvSpPr>
        <p:spPr>
          <a:xfrm>
            <a:off x="9061450" y="2937272"/>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off by two or more levels</a:t>
            </a:r>
            <a:endParaRPr lang="en-US" sz="1200" dirty="0"/>
          </a:p>
        </p:txBody>
      </p:sp>
      <p:sp>
        <p:nvSpPr>
          <p:cNvPr id="17" name="Text 15"/>
          <p:cNvSpPr/>
          <p:nvPr/>
        </p:nvSpPr>
        <p:spPr>
          <a:xfrm>
            <a:off x="812800" y="3614142"/>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B8CFF"/>
                </a:solidFill>
                <a:latin typeface="IBM Plex Sans" pitchFamily="34" charset="0"/>
                <a:ea typeface="IBM Plex Sans" pitchFamily="34" charset="-122"/>
                <a:cs typeface="IBM Plex Sans" pitchFamily="34" charset="-120"/>
              </a:rPr>
              <a:t>Model B: market value</a:t>
            </a:r>
            <a:endParaRPr lang="en-US" sz="1300" dirty="0"/>
          </a:p>
        </p:txBody>
      </p:sp>
      <p:sp>
        <p:nvSpPr>
          <p:cNvPr id="18" name="Shape 16"/>
          <p:cNvSpPr/>
          <p:nvPr/>
        </p:nvSpPr>
        <p:spPr>
          <a:xfrm>
            <a:off x="815975" y="3949998"/>
            <a:ext cx="2520950" cy="1393031"/>
          </a:xfrm>
          <a:prstGeom prst="roundRect">
            <a:avLst>
              <a:gd name="adj" fmla="val 8889"/>
            </a:avLst>
          </a:prstGeom>
          <a:solidFill>
            <a:srgbClr val="1A2440"/>
          </a:solidFill>
          <a:ln w="6350">
            <a:solidFill>
              <a:srgbClr val="2A3A63"/>
            </a:solidFill>
            <a:prstDash val="solid"/>
          </a:ln>
        </p:spPr>
      </p:sp>
      <p:sp>
        <p:nvSpPr>
          <p:cNvPr id="19" name="Text 17"/>
          <p:cNvSpPr/>
          <p:nvPr/>
        </p:nvSpPr>
        <p:spPr>
          <a:xfrm>
            <a:off x="1022350" y="4156373"/>
            <a:ext cx="217144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EF2F8"/>
                </a:solidFill>
                <a:latin typeface="Space Grotesk" pitchFamily="34" charset="0"/>
                <a:ea typeface="Space Grotesk" pitchFamily="34" charset="-122"/>
                <a:cs typeface="Space Grotesk" pitchFamily="34" charset="-120"/>
              </a:rPr>
              <a:t>$27,810</a:t>
            </a:r>
            <a:endParaRPr lang="en-US" sz="3600" dirty="0"/>
          </a:p>
        </p:txBody>
      </p:sp>
      <p:sp>
        <p:nvSpPr>
          <p:cNvPr id="20" name="Text 18"/>
          <p:cNvSpPr/>
          <p:nvPr/>
        </p:nvSpPr>
        <p:spPr>
          <a:xfrm>
            <a:off x="1022350" y="4710013"/>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MAE (baseline $49,222)</a:t>
            </a:r>
            <a:endParaRPr lang="en-US" sz="1200" dirty="0"/>
          </a:p>
        </p:txBody>
      </p:sp>
      <p:sp>
        <p:nvSpPr>
          <p:cNvPr id="21" name="Shape 19"/>
          <p:cNvSpPr/>
          <p:nvPr/>
        </p:nvSpPr>
        <p:spPr>
          <a:xfrm>
            <a:off x="3495675" y="3949998"/>
            <a:ext cx="2520950" cy="1393031"/>
          </a:xfrm>
          <a:prstGeom prst="roundRect">
            <a:avLst>
              <a:gd name="adj" fmla="val 8889"/>
            </a:avLst>
          </a:prstGeom>
          <a:solidFill>
            <a:srgbClr val="1A2440"/>
          </a:solidFill>
          <a:ln w="6350">
            <a:solidFill>
              <a:srgbClr val="2A3A63"/>
            </a:solidFill>
            <a:prstDash val="solid"/>
          </a:ln>
        </p:spPr>
      </p:sp>
      <p:sp>
        <p:nvSpPr>
          <p:cNvPr id="22" name="Text 20"/>
          <p:cNvSpPr/>
          <p:nvPr/>
        </p:nvSpPr>
        <p:spPr>
          <a:xfrm>
            <a:off x="3702050" y="4156373"/>
            <a:ext cx="217144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EF2F8"/>
                </a:solidFill>
                <a:latin typeface="Space Grotesk" pitchFamily="34" charset="0"/>
                <a:ea typeface="Space Grotesk" pitchFamily="34" charset="-122"/>
                <a:cs typeface="Space Grotesk" pitchFamily="34" charset="-120"/>
              </a:rPr>
              <a:t>$52,049</a:t>
            </a:r>
            <a:endParaRPr lang="en-US" sz="3600" dirty="0"/>
          </a:p>
        </p:txBody>
      </p:sp>
      <p:sp>
        <p:nvSpPr>
          <p:cNvPr id="23" name="Text 21"/>
          <p:cNvSpPr/>
          <p:nvPr/>
        </p:nvSpPr>
        <p:spPr>
          <a:xfrm>
            <a:off x="3702050" y="4710013"/>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RMSE (baseline $74,183)</a:t>
            </a:r>
            <a:endParaRPr lang="en-US" sz="1200" dirty="0"/>
          </a:p>
        </p:txBody>
      </p:sp>
      <p:sp>
        <p:nvSpPr>
          <p:cNvPr id="24" name="Shape 22"/>
          <p:cNvSpPr/>
          <p:nvPr/>
        </p:nvSpPr>
        <p:spPr>
          <a:xfrm>
            <a:off x="6175375" y="3949998"/>
            <a:ext cx="2520950" cy="1393031"/>
          </a:xfrm>
          <a:prstGeom prst="roundRect">
            <a:avLst>
              <a:gd name="adj" fmla="val 8889"/>
            </a:avLst>
          </a:prstGeom>
          <a:solidFill>
            <a:srgbClr val="1A2440"/>
          </a:solidFill>
          <a:ln w="6350">
            <a:solidFill>
              <a:srgbClr val="2A3A63"/>
            </a:solidFill>
            <a:prstDash val="solid"/>
          </a:ln>
        </p:spPr>
      </p:sp>
      <p:sp>
        <p:nvSpPr>
          <p:cNvPr id="25" name="Text 23"/>
          <p:cNvSpPr/>
          <p:nvPr/>
        </p:nvSpPr>
        <p:spPr>
          <a:xfrm>
            <a:off x="6381750" y="4156373"/>
            <a:ext cx="217144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EF2F8"/>
                </a:solidFill>
                <a:latin typeface="Space Grotesk" pitchFamily="34" charset="0"/>
                <a:ea typeface="Space Grotesk" pitchFamily="34" charset="-122"/>
                <a:cs typeface="Space Grotesk" pitchFamily="34" charset="-120"/>
              </a:rPr>
              <a:t>25.5%</a:t>
            </a:r>
            <a:endParaRPr lang="en-US" sz="3600" dirty="0"/>
          </a:p>
        </p:txBody>
      </p:sp>
      <p:sp>
        <p:nvSpPr>
          <p:cNvPr id="26" name="Text 24"/>
          <p:cNvSpPr/>
          <p:nvPr/>
        </p:nvSpPr>
        <p:spPr>
          <a:xfrm>
            <a:off x="6381750" y="4710013"/>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median % error</a:t>
            </a:r>
            <a:endParaRPr lang="en-US" sz="1200" dirty="0"/>
          </a:p>
        </p:txBody>
      </p:sp>
      <p:sp>
        <p:nvSpPr>
          <p:cNvPr id="27" name="Shape 25"/>
          <p:cNvSpPr/>
          <p:nvPr/>
        </p:nvSpPr>
        <p:spPr>
          <a:xfrm>
            <a:off x="8855075" y="3949998"/>
            <a:ext cx="2520950" cy="1393031"/>
          </a:xfrm>
          <a:prstGeom prst="roundRect">
            <a:avLst>
              <a:gd name="adj" fmla="val 8889"/>
            </a:avLst>
          </a:prstGeom>
          <a:solidFill>
            <a:srgbClr val="1A2440"/>
          </a:solidFill>
          <a:ln w="6350">
            <a:solidFill>
              <a:srgbClr val="2A3A63"/>
            </a:solidFill>
            <a:prstDash val="solid"/>
          </a:ln>
        </p:spPr>
      </p:sp>
      <p:sp>
        <p:nvSpPr>
          <p:cNvPr id="28" name="Text 26"/>
          <p:cNvSpPr/>
          <p:nvPr/>
        </p:nvSpPr>
        <p:spPr>
          <a:xfrm>
            <a:off x="9061450" y="4156373"/>
            <a:ext cx="217144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EF2F8"/>
                </a:solidFill>
                <a:latin typeface="Space Grotesk" pitchFamily="34" charset="0"/>
                <a:ea typeface="Space Grotesk" pitchFamily="34" charset="-122"/>
                <a:cs typeface="Space Grotesk" pitchFamily="34" charset="-120"/>
              </a:rPr>
              <a:t>80.0%</a:t>
            </a:r>
            <a:endParaRPr lang="en-US" sz="3600" dirty="0"/>
          </a:p>
        </p:txBody>
      </p:sp>
      <p:sp>
        <p:nvSpPr>
          <p:cNvPr id="29" name="Text 27"/>
          <p:cNvSpPr/>
          <p:nvPr/>
        </p:nvSpPr>
        <p:spPr>
          <a:xfrm>
            <a:off x="9061450" y="4710013"/>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of real salaries inside our range</a:t>
            </a:r>
            <a:endParaRPr lang="en-US" sz="1200" dirty="0"/>
          </a:p>
        </p:txBody>
      </p:sp>
      <p:sp>
        <p:nvSpPr>
          <p:cNvPr id="30" name="Text 2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6"/>
                </a:solidFill>
                <a:latin typeface="JetBrains Mono" pitchFamily="49" charset="0"/>
                <a:ea typeface="JetBrains Mono" pitchFamily="49" charset="-122"/>
                <a:cs typeface="JetBrains Mono" pitchFamily="49" charset="-120"/>
              </a:rPr>
              <a:t>DevAscend · 08 · Baseline = no ML (most common level / median salary)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A3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3DD9EB"/>
                </a:solidFill>
                <a:latin typeface="JetBrains Mono" pitchFamily="49" charset="0"/>
                <a:ea typeface="JetBrains Mono" pitchFamily="49" charset="-122"/>
                <a:cs typeface="JetBrains Mono" pitchFamily="49" charset="-120"/>
              </a:rPr>
              <a:t>MODEL C: GROWTH SIMULATOR</a:t>
            </a:r>
            <a:endParaRPr lang="en-US" sz="1300" dirty="0"/>
          </a:p>
        </p:txBody>
      </p:sp>
      <p:sp>
        <p:nvSpPr>
          <p:cNvPr id="3" name="Text 1"/>
          <p:cNvSpPr/>
          <p:nvPr>
            <p:ph type="title"/>
          </p:nvPr>
        </p:nvSpPr>
        <p:spPr>
          <a:xfrm>
            <a:off x="812800" y="11200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EEF2F8"/>
                </a:solidFill>
                <a:latin typeface="Space Grotesk" pitchFamily="34" charset="0"/>
                <a:ea typeface="Space Grotesk" pitchFamily="34" charset="-122"/>
                <a:cs typeface="Space Grotesk" pitchFamily="34" charset="-120"/>
              </a:rPr>
              <a:t>Simulating your future, one month at a time</a:t>
            </a:r>
            <a:endParaRPr lang="en-US" sz="3200" dirty="0"/>
          </a:p>
        </p:txBody>
      </p:sp>
      <p:sp>
        <p:nvSpPr>
          <p:cNvPr id="4" name="Shape 2"/>
          <p:cNvSpPr/>
          <p:nvPr/>
        </p:nvSpPr>
        <p:spPr>
          <a:xfrm>
            <a:off x="815975" y="1895376"/>
            <a:ext cx="5683250" cy="2505571"/>
          </a:xfrm>
          <a:prstGeom prst="roundRect">
            <a:avLst>
              <a:gd name="adj" fmla="val 4942"/>
            </a:avLst>
          </a:prstGeom>
          <a:solidFill>
            <a:srgbClr val="1A2440"/>
          </a:solidFill>
          <a:ln w="6350">
            <a:solidFill>
              <a:srgbClr val="2A3A63"/>
            </a:solidFill>
            <a:prstDash val="solid"/>
          </a:ln>
        </p:spPr>
      </p:sp>
      <p:sp>
        <p:nvSpPr>
          <p:cNvPr id="5" name="Text 3"/>
          <p:cNvSpPr/>
          <p:nvPr/>
        </p:nvSpPr>
        <p:spPr>
          <a:xfrm>
            <a:off x="1073150" y="2152551"/>
            <a:ext cx="532396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2F8"/>
                </a:solidFill>
                <a:latin typeface="Space Grotesk" pitchFamily="34" charset="0"/>
                <a:ea typeface="Space Grotesk" pitchFamily="34" charset="-122"/>
                <a:cs typeface="Space Grotesk" pitchFamily="34" charset="-120"/>
              </a:rPr>
              <a:t>For month 1, 2, 3 … 120</a:t>
            </a:r>
            <a:endParaRPr lang="en-US" sz="1600" dirty="0"/>
          </a:p>
        </p:txBody>
      </p:sp>
      <p:sp>
        <p:nvSpPr>
          <p:cNvPr id="6" name="Text 4"/>
          <p:cNvSpPr/>
          <p:nvPr/>
        </p:nvSpPr>
        <p:spPr>
          <a:xfrm>
            <a:off x="1130002" y="2523331"/>
            <a:ext cx="5259495" cy="1092200"/>
          </a:xfrm>
          <a:prstGeom prst="rect">
            <a:avLst/>
          </a:prstGeom>
          <a:noFill/>
          <a:ln/>
        </p:spPr>
        <p:txBody>
          <a:bodyPr wrap="square" lIns="0" tIns="0" rIns="0" bIns="0" rtlCol="0" anchor="t">
            <a:normAutofit/>
          </a:bodyPr>
          <a:lstStyle/>
          <a:p>
            <a:pPr algn="l" marL="197148" indent="-197148">
              <a:lnSpc>
                <a:spcPts val="2100"/>
              </a:lnSpc>
              <a:buSzPct val="100000"/>
              <a:buFontTx/>
              <a:buAutoNum type="arabicPeriod" startAt="1"/>
            </a:pPr>
            <a:r>
              <a:rPr lang="en-US" sz="1400" dirty="0">
                <a:solidFill>
                  <a:srgbClr val="B7C2D9"/>
                </a:solidFill>
                <a:latin typeface="IBM Plex Sans" pitchFamily="34" charset="0"/>
                <a:ea typeface="IBM Plex Sans" pitchFamily="34" charset="-122"/>
                <a:cs typeface="IBM Plex Sans" pitchFamily="34" charset="-120"/>
              </a:rPr>
              <a:t>Add 1/12 year of experience</a:t>
            </a:r>
            <a:endParaRPr lang="en-US" sz="1400" dirty="0"/>
          </a:p>
          <a:p>
            <a:pPr algn="l" marL="197148" indent="-197148">
              <a:lnSpc>
                <a:spcPts val="2100"/>
              </a:lnSpc>
              <a:buSzPct val="100000"/>
              <a:buFontTx/>
              <a:buAutoNum type="arabicPeriod" startAt="1"/>
            </a:pPr>
            <a:r>
              <a:rPr lang="en-US" sz="1400" dirty="0">
                <a:solidFill>
                  <a:srgbClr val="B7C2D9"/>
                </a:solidFill>
                <a:latin typeface="IBM Plex Sans" pitchFamily="34" charset="0"/>
                <a:ea typeface="IBM Plex Sans" pitchFamily="34" charset="-122"/>
                <a:cs typeface="IBM Plex Sans" pitchFamily="34" charset="-120"/>
              </a:rPr>
              <a:t>Add the next roadmap skill once its study hours are done</a:t>
            </a:r>
            <a:endParaRPr lang="en-US" sz="1400" dirty="0"/>
          </a:p>
          <a:p>
            <a:pPr algn="l" marL="197148" indent="-197148">
              <a:lnSpc>
                <a:spcPts val="2100"/>
              </a:lnSpc>
              <a:buSzPct val="100000"/>
              <a:buFontTx/>
              <a:buAutoNum type="arabicPeriod" startAt="1"/>
            </a:pPr>
            <a:r>
              <a:rPr lang="en-US" sz="1400" dirty="0">
                <a:solidFill>
                  <a:srgbClr val="B7C2D9"/>
                </a:solidFill>
                <a:latin typeface="IBM Plex Sans" pitchFamily="34" charset="0"/>
                <a:ea typeface="IBM Plex Sans" pitchFamily="34" charset="-122"/>
                <a:cs typeface="IBM Plex Sans" pitchFamily="34" charset="-120"/>
              </a:rPr>
              <a:t>Re-run Model A and Model B</a:t>
            </a:r>
            <a:endParaRPr lang="en-US" sz="1400" dirty="0"/>
          </a:p>
          <a:p>
            <a:pPr algn="l" marL="197148" indent="-197148">
              <a:lnSpc>
                <a:spcPts val="2100"/>
              </a:lnSpc>
              <a:buSzPct val="100000"/>
              <a:buFontTx/>
              <a:buAutoNum type="arabicPeriod" startAt="1"/>
            </a:pPr>
            <a:r>
              <a:rPr lang="en-US" sz="1400" dirty="0">
                <a:solidFill>
                  <a:srgbClr val="B7C2D9"/>
                </a:solidFill>
                <a:latin typeface="IBM Plex Sans" pitchFamily="34" charset="0"/>
                <a:ea typeface="IBM Plex Sans" pitchFamily="34" charset="-122"/>
                <a:cs typeface="IBM Plex Sans" pitchFamily="34" charset="-120"/>
              </a:rPr>
              <a:t>Goal reached when P(level ≥ goal) ≥ 50%, or salary ≥ target</a:t>
            </a:r>
            <a:endParaRPr lang="en-US" sz="1400" dirty="0"/>
          </a:p>
        </p:txBody>
      </p:sp>
      <p:sp>
        <p:nvSpPr>
          <p:cNvPr id="7" name="Text 5"/>
          <p:cNvSpPr/>
          <p:nvPr/>
        </p:nvSpPr>
        <p:spPr>
          <a:xfrm>
            <a:off x="1073150" y="3717131"/>
            <a:ext cx="532396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6"/>
                </a:solidFill>
                <a:latin typeface="IBM Plex Sans" pitchFamily="34" charset="0"/>
                <a:ea typeface="IBM Plex Sans" pitchFamily="34" charset="-122"/>
                <a:cs typeface="IBM Plex Sans" pitchFamily="34" charset="-120"/>
              </a:rPr>
              <a:t>No dataset follows the same people for years, so we learn from 153k devs at different stages and simulate one user forward.</a:t>
            </a:r>
            <a:endParaRPr lang="en-US" sz="1200" dirty="0"/>
          </a:p>
        </p:txBody>
      </p:sp>
      <p:sp>
        <p:nvSpPr>
          <p:cNvPr id="8" name="Shape 6"/>
          <p:cNvSpPr/>
          <p:nvPr/>
        </p:nvSpPr>
        <p:spPr>
          <a:xfrm>
            <a:off x="6813550" y="1898551"/>
            <a:ext cx="4559300" cy="2890242"/>
          </a:xfrm>
          <a:prstGeom prst="roundRect">
            <a:avLst>
              <a:gd name="adj" fmla="val 4174"/>
            </a:avLst>
          </a:prstGeom>
          <a:solidFill>
            <a:srgbClr val="1F2E5C"/>
          </a:solidFill>
          <a:ln w="12700">
            <a:solidFill>
              <a:srgbClr val="3DD9EB"/>
            </a:solidFill>
            <a:prstDash val="solid"/>
          </a:ln>
        </p:spPr>
      </p:sp>
      <p:sp>
        <p:nvSpPr>
          <p:cNvPr id="9" name="Text 7"/>
          <p:cNvSpPr/>
          <p:nvPr/>
        </p:nvSpPr>
        <p:spPr>
          <a:xfrm>
            <a:off x="7073900" y="2158901"/>
            <a:ext cx="41597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Example: Junior front-end dev in India, HTML/CSS, JS, React, 10 h/week</a:t>
            </a:r>
            <a:endParaRPr lang="en-US" sz="1200" dirty="0"/>
          </a:p>
        </p:txBody>
      </p:sp>
      <p:sp>
        <p:nvSpPr>
          <p:cNvPr id="10" name="Text 8"/>
          <p:cNvSpPr/>
          <p:nvPr/>
        </p:nvSpPr>
        <p:spPr>
          <a:xfrm>
            <a:off x="7073900" y="2712541"/>
            <a:ext cx="415975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2D9"/>
                </a:solidFill>
                <a:latin typeface="IBM Plex Sans" pitchFamily="34" charset="0"/>
                <a:ea typeface="IBM Plex Sans" pitchFamily="34" charset="-122"/>
                <a:cs typeface="IBM Plex Sans" pitchFamily="34" charset="-120"/>
              </a:rPr>
              <a:t>With the roadmap</a:t>
            </a:r>
            <a:endParaRPr lang="en-US" sz="1300" dirty="0"/>
          </a:p>
        </p:txBody>
      </p:sp>
      <p:sp>
        <p:nvSpPr>
          <p:cNvPr id="11" name="Text 9"/>
          <p:cNvSpPr/>
          <p:nvPr/>
        </p:nvSpPr>
        <p:spPr>
          <a:xfrm>
            <a:off x="7073900" y="2969022"/>
            <a:ext cx="4159758"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3DD9EB"/>
                </a:solidFill>
                <a:latin typeface="Space Grotesk" pitchFamily="34" charset="0"/>
                <a:ea typeface="Space Grotesk" pitchFamily="34" charset="-122"/>
                <a:cs typeface="Space Grotesk" pitchFamily="34" charset="-120"/>
              </a:rPr>
              <a:t>Senior in 7 y 2 m</a:t>
            </a:r>
            <a:endParaRPr lang="en-US" sz="2800" dirty="0"/>
          </a:p>
        </p:txBody>
      </p:sp>
      <p:sp>
        <p:nvSpPr>
          <p:cNvPr id="12" name="Text 10"/>
          <p:cNvSpPr/>
          <p:nvPr/>
        </p:nvSpPr>
        <p:spPr>
          <a:xfrm>
            <a:off x="7073900" y="3487142"/>
            <a:ext cx="415975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2D9"/>
                </a:solidFill>
                <a:latin typeface="IBM Plex Sans" pitchFamily="34" charset="0"/>
                <a:ea typeface="IBM Plex Sans" pitchFamily="34" charset="-122"/>
                <a:cs typeface="IBM Plex Sans" pitchFamily="34" charset="-120"/>
              </a:rPr>
              <a:t>Experience only</a:t>
            </a:r>
            <a:endParaRPr lang="en-US" sz="1300" dirty="0"/>
          </a:p>
        </p:txBody>
      </p:sp>
      <p:sp>
        <p:nvSpPr>
          <p:cNvPr id="13" name="Text 11"/>
          <p:cNvSpPr/>
          <p:nvPr/>
        </p:nvSpPr>
        <p:spPr>
          <a:xfrm>
            <a:off x="7073900" y="3743623"/>
            <a:ext cx="4159758"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EF2F8"/>
                </a:solidFill>
                <a:latin typeface="Space Grotesk" pitchFamily="34" charset="0"/>
                <a:ea typeface="Space Grotesk" pitchFamily="34" charset="-122"/>
                <a:cs typeface="Space Grotesk" pitchFamily="34" charset="-120"/>
              </a:rPr>
              <a:t>8 years 9 months</a:t>
            </a:r>
            <a:endParaRPr lang="en-US" sz="2800" dirty="0"/>
          </a:p>
        </p:txBody>
      </p:sp>
      <p:sp>
        <p:nvSpPr>
          <p:cNvPr id="14" name="Text 12"/>
          <p:cNvSpPr/>
          <p:nvPr/>
        </p:nvSpPr>
        <p:spPr>
          <a:xfrm>
            <a:off x="7073900" y="4261743"/>
            <a:ext cx="415975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DD9EB"/>
                </a:solidFill>
                <a:latin typeface="IBM Plex Sans" pitchFamily="34" charset="0"/>
                <a:ea typeface="IBM Plex Sans" pitchFamily="34" charset="-122"/>
                <a:cs typeface="IBM Plex Sans" pitchFamily="34" charset="-120"/>
              </a:rPr>
              <a:t>Learning gets there 19 months sooner</a:t>
            </a:r>
            <a:endParaRPr lang="en-US" sz="15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6"/>
                </a:solidFill>
                <a:latin typeface="JetBrains Mono" pitchFamily="49" charset="0"/>
                <a:ea typeface="JetBrains Mono" pitchFamily="49" charset="-122"/>
                <a:cs typeface="JetBrains Mono" pitchFamily="49" charset="-120"/>
              </a:rPr>
              <a:t>DevAscend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812800" y="812800"/>
            <a:ext cx="10883392" cy="253206"/>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9B8CFF"/>
                </a:solidFill>
                <a:latin typeface="JetBrains Mono" pitchFamily="49" charset="0"/>
                <a:ea typeface="JetBrains Mono" pitchFamily="49" charset="-122"/>
                <a:cs typeface="JetBrains Mono" pitchFamily="49" charset="-120"/>
              </a:rPr>
              <a:t>LEARNING GUIDE</a:t>
            </a:r>
            <a:endParaRPr lang="en-US" sz="1300" dirty="0"/>
          </a:p>
        </p:txBody>
      </p:sp>
      <p:sp>
        <p:nvSpPr>
          <p:cNvPr id="3" name="Text 1"/>
          <p:cNvSpPr/>
          <p:nvPr>
            <p:ph type="title"/>
          </p:nvPr>
        </p:nvSpPr>
        <p:spPr>
          <a:xfrm>
            <a:off x="812800" y="1116806"/>
            <a:ext cx="10883392" cy="486172"/>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EEF2F8"/>
                </a:solidFill>
                <a:latin typeface="Space Grotesk" pitchFamily="34" charset="0"/>
                <a:ea typeface="Space Grotesk" pitchFamily="34" charset="-122"/>
                <a:cs typeface="Space Grotesk" pitchFamily="34" charset="-120"/>
              </a:rPr>
              <a:t>A hybrid recommender for what to learn next</a:t>
            </a:r>
            <a:endParaRPr lang="en-US" sz="3190" dirty="0"/>
          </a:p>
        </p:txBody>
      </p:sp>
      <p:sp>
        <p:nvSpPr>
          <p:cNvPr id="4" name="Shape 2"/>
          <p:cNvSpPr/>
          <p:nvPr/>
        </p:nvSpPr>
        <p:spPr>
          <a:xfrm>
            <a:off x="815975" y="1832273"/>
            <a:ext cx="2559050" cy="1372691"/>
          </a:xfrm>
          <a:prstGeom prst="roundRect">
            <a:avLst>
              <a:gd name="adj" fmla="val 9021"/>
            </a:avLst>
          </a:prstGeom>
          <a:solidFill>
            <a:srgbClr val="1A2440"/>
          </a:solidFill>
          <a:ln w="6350">
            <a:solidFill>
              <a:srgbClr val="2A3A63"/>
            </a:solidFill>
            <a:prstDash val="solid"/>
          </a:ln>
        </p:spPr>
      </p:sp>
      <p:sp>
        <p:nvSpPr>
          <p:cNvPr id="5" name="Text 3"/>
          <p:cNvSpPr/>
          <p:nvPr/>
        </p:nvSpPr>
        <p:spPr>
          <a:xfrm>
            <a:off x="1022350" y="2038648"/>
            <a:ext cx="22106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8CFF"/>
                </a:solidFill>
                <a:latin typeface="Space Grotesk" pitchFamily="34" charset="0"/>
                <a:ea typeface="Space Grotesk" pitchFamily="34" charset="-122"/>
                <a:cs typeface="Space Grotesk" pitchFamily="34" charset="-120"/>
              </a:rPr>
              <a:t>Knowledge base</a:t>
            </a:r>
            <a:endParaRPr lang="en-US" sz="1600" dirty="0"/>
          </a:p>
        </p:txBody>
      </p:sp>
      <p:sp>
        <p:nvSpPr>
          <p:cNvPr id="6" name="Text 4"/>
          <p:cNvSpPr/>
          <p:nvPr/>
        </p:nvSpPr>
        <p:spPr>
          <a:xfrm>
            <a:off x="1022350" y="2358628"/>
            <a:ext cx="221068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52 topics, prerequisites and free resources (HTML/CSS → Tailwind)</a:t>
            </a:r>
            <a:endParaRPr lang="en-US" sz="1200" dirty="0"/>
          </a:p>
        </p:txBody>
      </p:sp>
      <p:sp>
        <p:nvSpPr>
          <p:cNvPr id="7" name="Shape 5"/>
          <p:cNvSpPr/>
          <p:nvPr/>
        </p:nvSpPr>
        <p:spPr>
          <a:xfrm>
            <a:off x="3533775" y="1938933"/>
            <a:ext cx="2559050" cy="1159371"/>
          </a:xfrm>
          <a:prstGeom prst="roundRect">
            <a:avLst>
              <a:gd name="adj" fmla="val 10680"/>
            </a:avLst>
          </a:prstGeom>
          <a:solidFill>
            <a:srgbClr val="1A2440"/>
          </a:solidFill>
          <a:ln w="6350">
            <a:solidFill>
              <a:srgbClr val="2A3A63"/>
            </a:solidFill>
            <a:prstDash val="solid"/>
          </a:ln>
        </p:spPr>
      </p:sp>
      <p:sp>
        <p:nvSpPr>
          <p:cNvPr id="8" name="Text 6"/>
          <p:cNvSpPr/>
          <p:nvPr/>
        </p:nvSpPr>
        <p:spPr>
          <a:xfrm>
            <a:off x="3740150" y="2145308"/>
            <a:ext cx="22106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DD9EB"/>
                </a:solidFill>
                <a:latin typeface="Space Grotesk" pitchFamily="34" charset="0"/>
                <a:ea typeface="Space Grotesk" pitchFamily="34" charset="-122"/>
                <a:cs typeface="Space Grotesk" pitchFamily="34" charset="-120"/>
              </a:rPr>
              <a:t>ML what-if</a:t>
            </a:r>
            <a:endParaRPr lang="en-US" sz="1600" dirty="0"/>
          </a:p>
        </p:txBody>
      </p:sp>
      <p:sp>
        <p:nvSpPr>
          <p:cNvPr id="9" name="Text 7"/>
          <p:cNvSpPr/>
          <p:nvPr/>
        </p:nvSpPr>
        <p:spPr>
          <a:xfrm>
            <a:off x="3740150" y="2465288"/>
            <a:ext cx="22106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predicted market value boost for your exact profile</a:t>
            </a:r>
            <a:endParaRPr lang="en-US" sz="1200" dirty="0"/>
          </a:p>
        </p:txBody>
      </p:sp>
      <p:sp>
        <p:nvSpPr>
          <p:cNvPr id="10" name="Shape 8"/>
          <p:cNvSpPr/>
          <p:nvPr/>
        </p:nvSpPr>
        <p:spPr>
          <a:xfrm>
            <a:off x="6251575" y="1938933"/>
            <a:ext cx="2559050" cy="1159371"/>
          </a:xfrm>
          <a:prstGeom prst="roundRect">
            <a:avLst>
              <a:gd name="adj" fmla="val 10680"/>
            </a:avLst>
          </a:prstGeom>
          <a:solidFill>
            <a:srgbClr val="1A2440"/>
          </a:solidFill>
          <a:ln w="6350">
            <a:solidFill>
              <a:srgbClr val="2A3A63"/>
            </a:solidFill>
            <a:prstDash val="solid"/>
          </a:ln>
        </p:spPr>
      </p:sp>
      <p:sp>
        <p:nvSpPr>
          <p:cNvPr id="11" name="Text 9"/>
          <p:cNvSpPr/>
          <p:nvPr/>
        </p:nvSpPr>
        <p:spPr>
          <a:xfrm>
            <a:off x="6457950" y="2145308"/>
            <a:ext cx="22106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DD9EB"/>
                </a:solidFill>
                <a:latin typeface="Space Grotesk" pitchFamily="34" charset="0"/>
                <a:ea typeface="Space Grotesk" pitchFamily="34" charset="-122"/>
                <a:cs typeface="Space Grotesk" pitchFamily="34" charset="-120"/>
              </a:rPr>
              <a:t>Market trends</a:t>
            </a:r>
            <a:endParaRPr lang="en-US" sz="1600" dirty="0"/>
          </a:p>
        </p:txBody>
      </p:sp>
      <p:sp>
        <p:nvSpPr>
          <p:cNvPr id="12" name="Text 10"/>
          <p:cNvSpPr/>
          <p:nvPr/>
        </p:nvSpPr>
        <p:spPr>
          <a:xfrm>
            <a:off x="6457950" y="2465288"/>
            <a:ext cx="22106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rising or falling skills across 5 survey years</a:t>
            </a:r>
            <a:endParaRPr lang="en-US" sz="1200" dirty="0"/>
          </a:p>
        </p:txBody>
      </p:sp>
      <p:pic>
        <p:nvPicPr>
          <p:cNvPr id="13" name="Image 0" descr="arrow-right">    </p:cNvPr>
          <p:cNvPicPr>
            <a:picLocks noChangeAspect="1"/>
          </p:cNvPicPr>
          <p:nvPr/>
        </p:nvPicPr>
        <p:blipFill>
          <a:blip r:embed="rId1"/>
          <a:srcRect l="0" r="0" t="0" b="0"/>
          <a:stretch/>
        </p:blipFill>
        <p:spPr>
          <a:xfrm>
            <a:off x="8966200" y="2416969"/>
            <a:ext cx="355600" cy="203200"/>
          </a:xfrm>
          <a:prstGeom prst="rect">
            <a:avLst/>
          </a:prstGeom>
        </p:spPr>
      </p:pic>
      <p:sp>
        <p:nvSpPr>
          <p:cNvPr id="14" name="Shape 11"/>
          <p:cNvSpPr/>
          <p:nvPr/>
        </p:nvSpPr>
        <p:spPr>
          <a:xfrm>
            <a:off x="9480550" y="1829098"/>
            <a:ext cx="1892300" cy="1379041"/>
          </a:xfrm>
          <a:prstGeom prst="roundRect">
            <a:avLst>
              <a:gd name="adj" fmla="val 8749"/>
            </a:avLst>
          </a:prstGeom>
          <a:solidFill>
            <a:srgbClr val="2A2650"/>
          </a:solidFill>
          <a:ln w="12700">
            <a:solidFill>
              <a:srgbClr val="9B8CFF"/>
            </a:solidFill>
            <a:prstDash val="solid"/>
          </a:ln>
        </p:spPr>
      </p:sp>
      <p:sp>
        <p:nvSpPr>
          <p:cNvPr id="15" name="Text 12"/>
          <p:cNvSpPr/>
          <p:nvPr/>
        </p:nvSpPr>
        <p:spPr>
          <a:xfrm>
            <a:off x="9690100" y="2038648"/>
            <a:ext cx="15240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2F8"/>
                </a:solidFill>
                <a:latin typeface="Space Grotesk" pitchFamily="34" charset="0"/>
                <a:ea typeface="Space Grotesk" pitchFamily="34" charset="-122"/>
                <a:cs typeface="Space Grotesk" pitchFamily="34" charset="-120"/>
              </a:rPr>
              <a:t>Score</a:t>
            </a:r>
            <a:endParaRPr lang="en-US" sz="1600" dirty="0"/>
          </a:p>
        </p:txBody>
      </p:sp>
      <p:sp>
        <p:nvSpPr>
          <p:cNvPr id="16" name="Text 13"/>
          <p:cNvSpPr/>
          <p:nvPr/>
        </p:nvSpPr>
        <p:spPr>
          <a:xfrm>
            <a:off x="9690100" y="2358628"/>
            <a:ext cx="15240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EF2F8"/>
                </a:solidFill>
                <a:latin typeface="IBM Plex Sans" pitchFamily="34" charset="0"/>
                <a:ea typeface="IBM Plex Sans" pitchFamily="34" charset="-122"/>
                <a:cs typeface="IBM Plex Sans" pitchFamily="34" charset="-120"/>
              </a:rPr>
              <a:t>ranked skills, workplace essentials, roadmap</a:t>
            </a:r>
            <a:endParaRPr lang="en-US" sz="1200" dirty="0"/>
          </a:p>
        </p:txBody>
      </p:sp>
      <p:sp>
        <p:nvSpPr>
          <p:cNvPr id="17" name="Shape 14"/>
          <p:cNvSpPr/>
          <p:nvPr/>
        </p:nvSpPr>
        <p:spPr>
          <a:xfrm>
            <a:off x="815975" y="3462834"/>
            <a:ext cx="7054850" cy="1852712"/>
          </a:xfrm>
          <a:prstGeom prst="roundRect">
            <a:avLst>
              <a:gd name="adj" fmla="val 6683"/>
            </a:avLst>
          </a:prstGeom>
          <a:solidFill>
            <a:srgbClr val="1A2440"/>
          </a:solidFill>
          <a:ln w="6350">
            <a:solidFill>
              <a:srgbClr val="2A3A63"/>
            </a:solidFill>
            <a:prstDash val="solid"/>
          </a:ln>
        </p:spPr>
      </p:sp>
      <p:sp>
        <p:nvSpPr>
          <p:cNvPr id="18" name="Text 15"/>
          <p:cNvSpPr/>
          <p:nvPr/>
        </p:nvSpPr>
        <p:spPr>
          <a:xfrm>
            <a:off x="1022350" y="3669209"/>
            <a:ext cx="684136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2D9"/>
                </a:solidFill>
                <a:latin typeface="IBM Plex Sans" pitchFamily="34" charset="0"/>
                <a:ea typeface="IBM Plex Sans" pitchFamily="34" charset="-122"/>
                <a:cs typeface="IBM Plex Sans" pitchFamily="34" charset="-120"/>
              </a:rPr>
              <a:t>Junior front-end dev who knows HTML/CSS and JavaScript gets this roadmap:</a:t>
            </a:r>
            <a:endParaRPr lang="en-US" sz="1300" dirty="0"/>
          </a:p>
        </p:txBody>
      </p:sp>
      <p:sp>
        <p:nvSpPr>
          <p:cNvPr id="19" name="Text 16"/>
          <p:cNvSpPr/>
          <p:nvPr/>
        </p:nvSpPr>
        <p:spPr>
          <a:xfrm>
            <a:off x="1022350" y="4027289"/>
            <a:ext cx="1017191" cy="332680"/>
          </a:xfrm>
          <a:prstGeom prst="roundRect">
            <a:avLst>
              <a:gd name="adj" fmla="val 50000"/>
            </a:avLst>
          </a:prstGeom>
          <a:solidFill>
            <a:srgbClr val="1F2E5C"/>
          </a:solidFill>
          <a:ln/>
        </p:spPr>
        <p:txBody>
          <a:bodyPr wrap="none" lIns="0" tIns="0" rIns="0" bIns="0" rtlCol="0" anchor="ctr">
            <a:normAutofit/>
          </a:bodyPr>
          <a:lstStyle/>
          <a:p>
            <a:pPr algn="ct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TypeScript</a:t>
            </a:r>
            <a:endParaRPr lang="en-US" sz="1300" dirty="0"/>
          </a:p>
        </p:txBody>
      </p:sp>
      <p:sp>
        <p:nvSpPr>
          <p:cNvPr id="20" name="Text 17"/>
          <p:cNvSpPr/>
          <p:nvPr/>
        </p:nvSpPr>
        <p:spPr>
          <a:xfrm>
            <a:off x="2115741" y="4027289"/>
            <a:ext cx="1174353" cy="332680"/>
          </a:xfrm>
          <a:prstGeom prst="roundRect">
            <a:avLst>
              <a:gd name="adj" fmla="val 50000"/>
            </a:avLst>
          </a:prstGeom>
          <a:solidFill>
            <a:srgbClr val="1F2E5C"/>
          </a:solidFill>
          <a:ln/>
        </p:spPr>
        <p:txBody>
          <a:bodyPr wrap="none" lIns="0" tIns="0" rIns="0" bIns="0" rtlCol="0" anchor="ctr">
            <a:normAutofit/>
          </a:bodyPr>
          <a:lstStyle/>
          <a:p>
            <a:pPr algn="ct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Tailwind CSS</a:t>
            </a:r>
            <a:endParaRPr lang="en-US" sz="1300" dirty="0"/>
          </a:p>
        </p:txBody>
      </p:sp>
      <p:sp>
        <p:nvSpPr>
          <p:cNvPr id="21" name="Text 18"/>
          <p:cNvSpPr/>
          <p:nvPr/>
        </p:nvSpPr>
        <p:spPr>
          <a:xfrm>
            <a:off x="3366294" y="4027289"/>
            <a:ext cx="651669" cy="332680"/>
          </a:xfrm>
          <a:prstGeom prst="roundRect">
            <a:avLst>
              <a:gd name="adj" fmla="val 50000"/>
            </a:avLst>
          </a:prstGeom>
          <a:solidFill>
            <a:srgbClr val="1F2E5C"/>
          </a:solidFill>
          <a:ln/>
        </p:spPr>
        <p:txBody>
          <a:bodyPr wrap="none" lIns="0" tIns="0" rIns="0" bIns="0" rtlCol="0" anchor="ctr">
            <a:normAutofit/>
          </a:bodyPr>
          <a:lstStyle/>
          <a:p>
            <a:pPr algn="ct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React</a:t>
            </a:r>
            <a:endParaRPr lang="en-US" sz="1300" dirty="0"/>
          </a:p>
        </p:txBody>
      </p:sp>
      <p:sp>
        <p:nvSpPr>
          <p:cNvPr id="22" name="Text 19"/>
          <p:cNvSpPr/>
          <p:nvPr/>
        </p:nvSpPr>
        <p:spPr>
          <a:xfrm>
            <a:off x="4094163" y="4027289"/>
            <a:ext cx="742255" cy="332680"/>
          </a:xfrm>
          <a:prstGeom prst="roundRect">
            <a:avLst>
              <a:gd name="adj" fmla="val 50000"/>
            </a:avLst>
          </a:prstGeom>
          <a:solidFill>
            <a:srgbClr val="1F2E5C"/>
          </a:solidFill>
          <a:ln/>
        </p:spPr>
        <p:txBody>
          <a:bodyPr wrap="none" lIns="0" tIns="0" rIns="0" bIns="0" rtlCol="0" anchor="ctr">
            <a:normAutofit/>
          </a:bodyPr>
          <a:lstStyle/>
          <a:p>
            <a:pPr algn="ct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Next.js</a:t>
            </a:r>
            <a:endParaRPr lang="en-US" sz="1300" dirty="0"/>
          </a:p>
        </p:txBody>
      </p:sp>
      <p:sp>
        <p:nvSpPr>
          <p:cNvPr id="23" name="Text 20"/>
          <p:cNvSpPr/>
          <p:nvPr/>
        </p:nvSpPr>
        <p:spPr>
          <a:xfrm>
            <a:off x="4912618" y="4027289"/>
            <a:ext cx="1376462" cy="332680"/>
          </a:xfrm>
          <a:prstGeom prst="roundRect">
            <a:avLst>
              <a:gd name="adj" fmla="val 50000"/>
            </a:avLst>
          </a:prstGeom>
          <a:solidFill>
            <a:srgbClr val="2A2650"/>
          </a:solidFill>
          <a:ln/>
        </p:spPr>
        <p:txBody>
          <a:bodyPr wrap="none" lIns="0" tIns="0" rIns="0" bIns="0" rtlCol="0" anchor="ctr">
            <a:normAutofit/>
          </a:bodyPr>
          <a:lstStyle/>
          <a:p>
            <a:pPr algn="ct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Form validation</a:t>
            </a:r>
            <a:endParaRPr lang="en-US" sz="1300" dirty="0"/>
          </a:p>
        </p:txBody>
      </p:sp>
      <p:sp>
        <p:nvSpPr>
          <p:cNvPr id="24" name="Text 21"/>
          <p:cNvSpPr/>
          <p:nvPr/>
        </p:nvSpPr>
        <p:spPr>
          <a:xfrm>
            <a:off x="6365280" y="4027289"/>
            <a:ext cx="1153914" cy="332680"/>
          </a:xfrm>
          <a:prstGeom prst="roundRect">
            <a:avLst>
              <a:gd name="adj" fmla="val 50000"/>
            </a:avLst>
          </a:prstGeom>
          <a:solidFill>
            <a:srgbClr val="2A2650"/>
          </a:solidFill>
          <a:ln/>
        </p:spPr>
        <p:txBody>
          <a:bodyPr wrap="none" lIns="0" tIns="0" rIns="0" bIns="0" rtlCol="0" anchor="ctr">
            <a:normAutofit/>
          </a:bodyPr>
          <a:lstStyle/>
          <a:p>
            <a:pPr algn="ct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Accessibility</a:t>
            </a:r>
            <a:endParaRPr lang="en-US" sz="1300" dirty="0"/>
          </a:p>
        </p:txBody>
      </p:sp>
      <p:sp>
        <p:nvSpPr>
          <p:cNvPr id="25" name="Text 22"/>
          <p:cNvSpPr/>
          <p:nvPr/>
        </p:nvSpPr>
        <p:spPr>
          <a:xfrm>
            <a:off x="1022350" y="4436170"/>
            <a:ext cx="762397" cy="332680"/>
          </a:xfrm>
          <a:prstGeom prst="roundRect">
            <a:avLst>
              <a:gd name="adj" fmla="val 50000"/>
            </a:avLst>
          </a:prstGeom>
          <a:solidFill>
            <a:srgbClr val="2A2650"/>
          </a:solidFill>
          <a:ln/>
        </p:spPr>
        <p:txBody>
          <a:bodyPr wrap="none" lIns="0" tIns="0" rIns="0" bIns="0" rtlCol="0" anchor="ctr">
            <a:normAutofit/>
          </a:bodyPr>
          <a:lstStyle/>
          <a:p>
            <a:pPr algn="ct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Testing</a:t>
            </a:r>
            <a:endParaRPr lang="en-US" sz="1300" dirty="0"/>
          </a:p>
        </p:txBody>
      </p:sp>
      <p:sp>
        <p:nvSpPr>
          <p:cNvPr id="26" name="Text 23"/>
          <p:cNvSpPr/>
          <p:nvPr/>
        </p:nvSpPr>
        <p:spPr>
          <a:xfrm>
            <a:off x="1860947" y="4436170"/>
            <a:ext cx="524173" cy="332680"/>
          </a:xfrm>
          <a:prstGeom prst="roundRect">
            <a:avLst>
              <a:gd name="adj" fmla="val 50000"/>
            </a:avLst>
          </a:prstGeom>
          <a:solidFill>
            <a:srgbClr val="1F2E5C"/>
          </a:solidFill>
          <a:ln/>
        </p:spPr>
        <p:txBody>
          <a:bodyPr wrap="none" lIns="0" tIns="0" rIns="0" bIns="0" rtlCol="0" anchor="ctr">
            <a:normAutofit/>
          </a:bodyPr>
          <a:lstStyle/>
          <a:p>
            <a:pPr algn="ctr" indent="0" marL="0">
              <a:lnSpc>
                <a:spcPts val="1820"/>
              </a:lnSpc>
              <a:buNone/>
            </a:pPr>
            <a:r>
              <a:rPr lang="en-US" sz="1300" dirty="0">
                <a:solidFill>
                  <a:srgbClr val="EEF2F8"/>
                </a:solidFill>
                <a:latin typeface="IBM Plex Sans" pitchFamily="34" charset="0"/>
                <a:ea typeface="IBM Plex Sans" pitchFamily="34" charset="-122"/>
                <a:cs typeface="IBM Plex Sans" pitchFamily="34" charset="-120"/>
              </a:rPr>
              <a:t>SQL</a:t>
            </a:r>
            <a:endParaRPr lang="en-US" sz="1300" dirty="0"/>
          </a:p>
        </p:txBody>
      </p:sp>
      <p:sp>
        <p:nvSpPr>
          <p:cNvPr id="27" name="Text 24"/>
          <p:cNvSpPr/>
          <p:nvPr/>
        </p:nvSpPr>
        <p:spPr>
          <a:xfrm>
            <a:off x="1022350" y="4895850"/>
            <a:ext cx="68413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6"/>
                </a:solidFill>
                <a:latin typeface="IBM Plex Sans" pitchFamily="34" charset="0"/>
                <a:ea typeface="IBM Plex Sans" pitchFamily="34" charset="-122"/>
                <a:cs typeface="IBM Plex Sans" pitchFamily="34" charset="-120"/>
              </a:rPr>
              <a:t>Violet = workplace essentials juniors usually learn too late</a:t>
            </a:r>
            <a:endParaRPr lang="en-US" sz="1200" dirty="0"/>
          </a:p>
        </p:txBody>
      </p:sp>
      <p:sp>
        <p:nvSpPr>
          <p:cNvPr id="28" name="Shape 25"/>
          <p:cNvSpPr/>
          <p:nvPr/>
        </p:nvSpPr>
        <p:spPr>
          <a:xfrm>
            <a:off x="8080375" y="3462834"/>
            <a:ext cx="3295650" cy="2406551"/>
          </a:xfrm>
          <a:prstGeom prst="roundRect">
            <a:avLst>
              <a:gd name="adj" fmla="val 5145"/>
            </a:avLst>
          </a:prstGeom>
          <a:solidFill>
            <a:srgbClr val="1A2440"/>
          </a:solidFill>
          <a:ln w="6350">
            <a:solidFill>
              <a:srgbClr val="2A3A63"/>
            </a:solidFill>
            <a:prstDash val="solid"/>
          </a:ln>
        </p:spPr>
      </p:sp>
      <p:sp>
        <p:nvSpPr>
          <p:cNvPr id="29" name="Text 26"/>
          <p:cNvSpPr/>
          <p:nvPr/>
        </p:nvSpPr>
        <p:spPr>
          <a:xfrm>
            <a:off x="8286750" y="3669209"/>
            <a:ext cx="296938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2D9"/>
                </a:solidFill>
                <a:latin typeface="IBM Plex Sans" pitchFamily="34" charset="0"/>
                <a:ea typeface="IBM Plex Sans" pitchFamily="34" charset="-122"/>
                <a:cs typeface="IBM Plex Sans" pitchFamily="34" charset="-120"/>
              </a:rPr>
              <a:t>Developers using AI tools</a:t>
            </a:r>
            <a:endParaRPr lang="en-US" sz="1300" dirty="0"/>
          </a:p>
        </p:txBody>
      </p:sp>
      <p:sp>
        <p:nvSpPr>
          <p:cNvPr id="30" name="Text 27"/>
          <p:cNvSpPr/>
          <p:nvPr/>
        </p:nvSpPr>
        <p:spPr>
          <a:xfrm>
            <a:off x="8261350" y="4602659"/>
            <a:ext cx="87630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EF2F8"/>
                </a:solidFill>
                <a:latin typeface="IBM Plex Sans" pitchFamily="34" charset="0"/>
                <a:ea typeface="IBM Plex Sans" pitchFamily="34" charset="-122"/>
                <a:cs typeface="IBM Plex Sans" pitchFamily="34" charset="-120"/>
              </a:rPr>
              <a:t>43%</a:t>
            </a:r>
            <a:endParaRPr lang="en-US" sz="1300" dirty="0"/>
          </a:p>
        </p:txBody>
      </p:sp>
      <p:sp>
        <p:nvSpPr>
          <p:cNvPr id="31" name="Shape 28"/>
          <p:cNvSpPr/>
          <p:nvPr/>
        </p:nvSpPr>
        <p:spPr>
          <a:xfrm>
            <a:off x="8286750" y="4884539"/>
            <a:ext cx="825500" cy="488950"/>
          </a:xfrm>
          <a:custGeom>
            <a:avLst/>
            <a:gdLst/>
            <a:ahLst/>
            <a:cxnLst/>
            <a:rect l="l" t="t" r="r" b="b"/>
            <a:pathLst>
              <a:path w="825500" h="488950">
                <a:moveTo>
                  <a:pt x="38100" y="0"/>
                </a:moveTo>
                <a:lnTo>
                  <a:pt x="787400" y="0"/>
                </a:lnTo>
                <a:arcTo hR="38100" wR="38100" stAng="16200000" swAng="5400000"/>
                <a:lnTo>
                  <a:pt x="825500" y="488950"/>
                </a:lnTo>
                <a:lnTo>
                  <a:pt x="0" y="488950"/>
                </a:lnTo>
                <a:lnTo>
                  <a:pt x="0" y="38100"/>
                </a:lnTo>
                <a:arcTo hR="38100" wR="38100" stAng="10800000" swAng="5400000"/>
                <a:close/>
              </a:path>
            </a:pathLst>
          </a:custGeom>
          <a:solidFill>
            <a:srgbClr val="3DD9EB"/>
          </a:solidFill>
          <a:ln/>
        </p:spPr>
      </p:sp>
      <p:sp>
        <p:nvSpPr>
          <p:cNvPr id="32" name="Text 29"/>
          <p:cNvSpPr/>
          <p:nvPr/>
        </p:nvSpPr>
        <p:spPr>
          <a:xfrm>
            <a:off x="9290050" y="4374059"/>
            <a:ext cx="87630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EF2F8"/>
                </a:solidFill>
                <a:latin typeface="IBM Plex Sans" pitchFamily="34" charset="0"/>
                <a:ea typeface="IBM Plex Sans" pitchFamily="34" charset="-122"/>
                <a:cs typeface="IBM Plex Sans" pitchFamily="34" charset="-120"/>
              </a:rPr>
              <a:t>63%</a:t>
            </a:r>
            <a:endParaRPr lang="en-US" sz="1300" dirty="0"/>
          </a:p>
        </p:txBody>
      </p:sp>
      <p:sp>
        <p:nvSpPr>
          <p:cNvPr id="33" name="Shape 30"/>
          <p:cNvSpPr/>
          <p:nvPr/>
        </p:nvSpPr>
        <p:spPr>
          <a:xfrm>
            <a:off x="9315450" y="4655939"/>
            <a:ext cx="825500" cy="717550"/>
          </a:xfrm>
          <a:custGeom>
            <a:avLst/>
            <a:gdLst/>
            <a:ahLst/>
            <a:cxnLst/>
            <a:rect l="l" t="t" r="r" b="b"/>
            <a:pathLst>
              <a:path w="825500" h="717550">
                <a:moveTo>
                  <a:pt x="38100" y="0"/>
                </a:moveTo>
                <a:lnTo>
                  <a:pt x="787400" y="0"/>
                </a:lnTo>
                <a:arcTo hR="38100" wR="38100" stAng="16200000" swAng="5400000"/>
                <a:lnTo>
                  <a:pt x="825500" y="717550"/>
                </a:lnTo>
                <a:lnTo>
                  <a:pt x="0" y="717550"/>
                </a:lnTo>
                <a:lnTo>
                  <a:pt x="0" y="38100"/>
                </a:lnTo>
                <a:arcTo hR="38100" wR="38100" stAng="10800000" swAng="5400000"/>
                <a:close/>
              </a:path>
            </a:pathLst>
          </a:custGeom>
          <a:solidFill>
            <a:srgbClr val="3DD9EB"/>
          </a:solidFill>
          <a:ln/>
        </p:spPr>
      </p:sp>
      <p:sp>
        <p:nvSpPr>
          <p:cNvPr id="34" name="Text 31"/>
          <p:cNvSpPr/>
          <p:nvPr/>
        </p:nvSpPr>
        <p:spPr>
          <a:xfrm>
            <a:off x="10318750" y="4164509"/>
            <a:ext cx="87630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EF2F8"/>
                </a:solidFill>
                <a:latin typeface="IBM Plex Sans" pitchFamily="34" charset="0"/>
                <a:ea typeface="IBM Plex Sans" pitchFamily="34" charset="-122"/>
                <a:cs typeface="IBM Plex Sans" pitchFamily="34" charset="-120"/>
              </a:rPr>
              <a:t>81%</a:t>
            </a:r>
            <a:endParaRPr lang="en-US" sz="1300" dirty="0"/>
          </a:p>
        </p:txBody>
      </p:sp>
      <p:sp>
        <p:nvSpPr>
          <p:cNvPr id="35" name="Shape 32"/>
          <p:cNvSpPr/>
          <p:nvPr/>
        </p:nvSpPr>
        <p:spPr>
          <a:xfrm>
            <a:off x="10344150" y="4446389"/>
            <a:ext cx="825500" cy="927100"/>
          </a:xfrm>
          <a:custGeom>
            <a:avLst/>
            <a:gdLst/>
            <a:ahLst/>
            <a:cxnLst/>
            <a:rect l="l" t="t" r="r" b="b"/>
            <a:pathLst>
              <a:path w="825500" h="927100">
                <a:moveTo>
                  <a:pt x="38100" y="0"/>
                </a:moveTo>
                <a:lnTo>
                  <a:pt x="787400" y="0"/>
                </a:lnTo>
                <a:arcTo hR="38100" wR="38100" stAng="16200000" swAng="5400000"/>
                <a:lnTo>
                  <a:pt x="825500" y="927100"/>
                </a:lnTo>
                <a:lnTo>
                  <a:pt x="0" y="927100"/>
                </a:lnTo>
                <a:lnTo>
                  <a:pt x="0" y="38100"/>
                </a:lnTo>
                <a:arcTo hR="38100" wR="38100" stAng="10800000" swAng="5400000"/>
                <a:close/>
              </a:path>
            </a:pathLst>
          </a:custGeom>
          <a:solidFill>
            <a:srgbClr val="3DD9EB"/>
          </a:solidFill>
          <a:ln/>
        </p:spPr>
      </p:sp>
      <p:sp>
        <p:nvSpPr>
          <p:cNvPr id="36" name="Text 33"/>
          <p:cNvSpPr/>
          <p:nvPr/>
        </p:nvSpPr>
        <p:spPr>
          <a:xfrm>
            <a:off x="8261350" y="5449689"/>
            <a:ext cx="876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F8BA6"/>
                </a:solidFill>
                <a:latin typeface="IBM Plex Sans" pitchFamily="34" charset="0"/>
                <a:ea typeface="IBM Plex Sans" pitchFamily="34" charset="-122"/>
                <a:cs typeface="IBM Plex Sans" pitchFamily="34" charset="-120"/>
              </a:rPr>
              <a:t>2023</a:t>
            </a:r>
            <a:endParaRPr lang="en-US" sz="1200" dirty="0"/>
          </a:p>
        </p:txBody>
      </p:sp>
      <p:sp>
        <p:nvSpPr>
          <p:cNvPr id="37" name="Text 34"/>
          <p:cNvSpPr/>
          <p:nvPr/>
        </p:nvSpPr>
        <p:spPr>
          <a:xfrm>
            <a:off x="9290050" y="5449689"/>
            <a:ext cx="876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F8BA6"/>
                </a:solidFill>
                <a:latin typeface="IBM Plex Sans" pitchFamily="34" charset="0"/>
                <a:ea typeface="IBM Plex Sans" pitchFamily="34" charset="-122"/>
                <a:cs typeface="IBM Plex Sans" pitchFamily="34" charset="-120"/>
              </a:rPr>
              <a:t>2024</a:t>
            </a:r>
            <a:endParaRPr lang="en-US" sz="1200" dirty="0"/>
          </a:p>
        </p:txBody>
      </p:sp>
      <p:sp>
        <p:nvSpPr>
          <p:cNvPr id="38" name="Text 35"/>
          <p:cNvSpPr/>
          <p:nvPr/>
        </p:nvSpPr>
        <p:spPr>
          <a:xfrm>
            <a:off x="10318750" y="5449689"/>
            <a:ext cx="876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F8BA6"/>
                </a:solidFill>
                <a:latin typeface="IBM Plex Sans" pitchFamily="34" charset="0"/>
                <a:ea typeface="IBM Plex Sans" pitchFamily="34" charset="-122"/>
                <a:cs typeface="IBM Plex Sans" pitchFamily="34" charset="-120"/>
              </a:rPr>
              <a:t>2025</a:t>
            </a:r>
            <a:endParaRPr lang="en-US" sz="1200" dirty="0"/>
          </a:p>
        </p:txBody>
      </p:sp>
      <p:sp>
        <p:nvSpPr>
          <p:cNvPr id="39" name="Text 3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6"/>
                </a:solidFill>
                <a:latin typeface="JetBrains Mono" pitchFamily="49" charset="0"/>
                <a:ea typeface="JetBrains Mono" pitchFamily="49" charset="-122"/>
                <a:cs typeface="JetBrains Mono" pitchFamily="49" charset="-120"/>
              </a:rPr>
              <a:t>DevAscend · 10 · AI usage: survey question AISelect, professional developers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A3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3DD9EB"/>
                </a:solidFill>
                <a:latin typeface="JetBrains Mono" pitchFamily="49" charset="0"/>
                <a:ea typeface="JetBrains Mono" pitchFamily="49" charset="-122"/>
                <a:cs typeface="JetBrains Mono" pitchFamily="49" charset="-120"/>
              </a:rPr>
              <a:t>SYSTEM ARCHITECTURE</a:t>
            </a:r>
            <a:endParaRPr lang="en-US" sz="1300" dirty="0"/>
          </a:p>
        </p:txBody>
      </p:sp>
      <p:sp>
        <p:nvSpPr>
          <p:cNvPr id="3" name="Text 1"/>
          <p:cNvSpPr/>
          <p:nvPr>
            <p:ph type="title"/>
          </p:nvPr>
        </p:nvSpPr>
        <p:spPr>
          <a:xfrm>
            <a:off x="812800" y="11200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EEF2F8"/>
                </a:solidFill>
                <a:latin typeface="Space Grotesk" pitchFamily="34" charset="0"/>
                <a:ea typeface="Space Grotesk" pitchFamily="34" charset="-122"/>
                <a:cs typeface="Space Grotesk" pitchFamily="34" charset="-120"/>
              </a:rPr>
              <a:t>From database to a 3D dashboard</a:t>
            </a:r>
            <a:endParaRPr lang="en-US" sz="3200" dirty="0"/>
          </a:p>
        </p:txBody>
      </p:sp>
      <p:sp>
        <p:nvSpPr>
          <p:cNvPr id="4" name="Shape 2"/>
          <p:cNvSpPr/>
          <p:nvPr/>
        </p:nvSpPr>
        <p:spPr>
          <a:xfrm>
            <a:off x="815975" y="1844576"/>
            <a:ext cx="3177084" cy="1647130"/>
          </a:xfrm>
          <a:prstGeom prst="roundRect">
            <a:avLst>
              <a:gd name="adj" fmla="val 7518"/>
            </a:avLst>
          </a:prstGeom>
          <a:solidFill>
            <a:srgbClr val="1A2440"/>
          </a:solidFill>
          <a:ln w="6350">
            <a:solidFill>
              <a:srgbClr val="2A3A63"/>
            </a:solidFill>
            <a:prstDash val="solid"/>
          </a:ln>
        </p:spPr>
      </p:sp>
      <p:sp>
        <p:nvSpPr>
          <p:cNvPr id="5" name="Text 3"/>
          <p:cNvSpPr/>
          <p:nvPr/>
        </p:nvSpPr>
        <p:spPr>
          <a:xfrm>
            <a:off x="1022350" y="2050951"/>
            <a:ext cx="284726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B8CFF"/>
                </a:solidFill>
                <a:latin typeface="Space Grotesk" pitchFamily="34" charset="0"/>
                <a:ea typeface="Space Grotesk" pitchFamily="34" charset="-122"/>
                <a:cs typeface="Space Grotesk" pitchFamily="34" charset="-120"/>
              </a:rPr>
              <a:t>Web</a:t>
            </a:r>
            <a:endParaRPr lang="en-US" sz="1600" dirty="0"/>
          </a:p>
        </p:txBody>
      </p:sp>
      <p:sp>
        <p:nvSpPr>
          <p:cNvPr id="6" name="Text 4"/>
          <p:cNvSpPr/>
          <p:nvPr/>
        </p:nvSpPr>
        <p:spPr>
          <a:xfrm>
            <a:off x="1022350" y="2370931"/>
            <a:ext cx="2847264"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7C2D9"/>
                </a:solidFill>
                <a:latin typeface="IBM Plex Sans" pitchFamily="34" charset="0"/>
                <a:ea typeface="IBM Plex Sans" pitchFamily="34" charset="-122"/>
                <a:cs typeface="IBM Plex Sans" pitchFamily="34" charset="-120"/>
              </a:rPr>
              <a:t>Next.js + React</a:t>
            </a:r>
            <a:endParaRPr lang="en-US" sz="1200" dirty="0"/>
          </a:p>
          <a:p>
            <a:pPr algn="l" indent="0" marL="0">
              <a:lnSpc>
                <a:spcPts val="1800"/>
              </a:lnSpc>
              <a:buNone/>
            </a:pPr>
            <a:r>
              <a:rPr lang="en-US" sz="1200" dirty="0">
                <a:solidFill>
                  <a:srgbClr val="B7C2D9"/>
                </a:solidFill>
                <a:latin typeface="IBM Plex Sans" pitchFamily="34" charset="0"/>
                <a:ea typeface="IBM Plex Sans" pitchFamily="34" charset="-122"/>
                <a:cs typeface="IBM Plex Sans" pitchFamily="34" charset="-120"/>
              </a:rPr>
              <a:t>Three.js 3D scene</a:t>
            </a:r>
            <a:endParaRPr lang="en-US" sz="1200" dirty="0"/>
          </a:p>
          <a:p>
            <a:pPr algn="l" indent="0" marL="0">
              <a:lnSpc>
                <a:spcPts val="1800"/>
              </a:lnSpc>
              <a:buNone/>
            </a:pPr>
            <a:r>
              <a:rPr lang="en-US" sz="1200" dirty="0">
                <a:solidFill>
                  <a:srgbClr val="B7C2D9"/>
                </a:solidFill>
                <a:latin typeface="IBM Plex Sans" pitchFamily="34" charset="0"/>
                <a:ea typeface="IBM Plex Sans" pitchFamily="34" charset="-122"/>
                <a:cs typeface="IBM Plex Sans" pitchFamily="34" charset="-120"/>
              </a:rPr>
              <a:t>Recharts growth chart</a:t>
            </a:r>
            <a:endParaRPr lang="en-US" sz="1200" dirty="0"/>
          </a:p>
          <a:p>
            <a:pPr algn="l" indent="0" marL="0">
              <a:lnSpc>
                <a:spcPts val="1800"/>
              </a:lnSpc>
              <a:buNone/>
            </a:pPr>
            <a:r>
              <a:rPr lang="en-US" sz="1200" dirty="0">
                <a:solidFill>
                  <a:srgbClr val="B7C2D9"/>
                </a:solidFill>
                <a:latin typeface="IBM Plex Sans" pitchFamily="34" charset="0"/>
                <a:ea typeface="IBM Plex Sans" pitchFamily="34" charset="-122"/>
                <a:cs typeface="IBM Plex Sans" pitchFamily="34" charset="-120"/>
              </a:rPr>
              <a:t>Predictor + Accuracy pages</a:t>
            </a:r>
            <a:endParaRPr lang="en-US" sz="1200" dirty="0"/>
          </a:p>
        </p:txBody>
      </p:sp>
      <p:pic>
        <p:nvPicPr>
          <p:cNvPr id="7" name="Image 0" descr="arrow-right">    </p:cNvPr>
          <p:cNvPicPr>
            <a:picLocks noChangeAspect="1"/>
          </p:cNvPicPr>
          <p:nvPr/>
        </p:nvPicPr>
        <p:blipFill>
          <a:blip r:embed="rId1"/>
          <a:srcRect l="0" r="0" t="0" b="0"/>
          <a:stretch/>
        </p:blipFill>
        <p:spPr>
          <a:xfrm>
            <a:off x="4097834" y="2579191"/>
            <a:ext cx="304800" cy="177800"/>
          </a:xfrm>
          <a:prstGeom prst="rect">
            <a:avLst/>
          </a:prstGeom>
        </p:spPr>
      </p:pic>
      <p:sp>
        <p:nvSpPr>
          <p:cNvPr id="8" name="Shape 5"/>
          <p:cNvSpPr/>
          <p:nvPr/>
        </p:nvSpPr>
        <p:spPr>
          <a:xfrm>
            <a:off x="4507409" y="1844576"/>
            <a:ext cx="3177183" cy="1647130"/>
          </a:xfrm>
          <a:prstGeom prst="roundRect">
            <a:avLst>
              <a:gd name="adj" fmla="val 7518"/>
            </a:avLst>
          </a:prstGeom>
          <a:solidFill>
            <a:srgbClr val="1A2440"/>
          </a:solidFill>
          <a:ln w="6350">
            <a:solidFill>
              <a:srgbClr val="2A3A63"/>
            </a:solidFill>
            <a:prstDash val="solid"/>
          </a:ln>
        </p:spPr>
      </p:sp>
      <p:sp>
        <p:nvSpPr>
          <p:cNvPr id="9" name="Text 6"/>
          <p:cNvSpPr/>
          <p:nvPr/>
        </p:nvSpPr>
        <p:spPr>
          <a:xfrm>
            <a:off x="4713784" y="2050951"/>
            <a:ext cx="284736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DD9EB"/>
                </a:solidFill>
                <a:latin typeface="Space Grotesk" pitchFamily="34" charset="0"/>
                <a:ea typeface="Space Grotesk" pitchFamily="34" charset="-122"/>
                <a:cs typeface="Space Grotesk" pitchFamily="34" charset="-120"/>
              </a:rPr>
              <a:t>API (FastAPI)</a:t>
            </a:r>
            <a:endParaRPr lang="en-US" sz="1600" dirty="0"/>
          </a:p>
        </p:txBody>
      </p:sp>
      <p:sp>
        <p:nvSpPr>
          <p:cNvPr id="10" name="Text 7"/>
          <p:cNvSpPr/>
          <p:nvPr/>
        </p:nvSpPr>
        <p:spPr>
          <a:xfrm>
            <a:off x="4713784" y="2370931"/>
            <a:ext cx="2847366"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7C2D9"/>
                </a:solidFill>
                <a:latin typeface="JetBrains Mono" pitchFamily="49" charset="0"/>
                <a:ea typeface="JetBrains Mono" pitchFamily="49" charset="-122"/>
                <a:cs typeface="JetBrains Mono" pitchFamily="49" charset="-120"/>
              </a:rPr>
              <a:t>POST /predict</a:t>
            </a:r>
            <a:endParaRPr lang="en-US" sz="1200" dirty="0"/>
          </a:p>
          <a:p>
            <a:pPr algn="l" indent="0" marL="0">
              <a:lnSpc>
                <a:spcPts val="1800"/>
              </a:lnSpc>
              <a:buNone/>
            </a:pPr>
            <a:r>
              <a:rPr lang="en-US" sz="1200" dirty="0">
                <a:solidFill>
                  <a:srgbClr val="B7C2D9"/>
                </a:solidFill>
                <a:latin typeface="JetBrains Mono" pitchFamily="49" charset="0"/>
                <a:ea typeface="JetBrains Mono" pitchFamily="49" charset="-122"/>
                <a:cs typeface="JetBrains Mono" pitchFamily="49" charset="-120"/>
              </a:rPr>
              <a:t>POST /growth</a:t>
            </a:r>
            <a:endParaRPr lang="en-US" sz="1200" dirty="0"/>
          </a:p>
          <a:p>
            <a:pPr algn="l" indent="0" marL="0">
              <a:lnSpc>
                <a:spcPts val="1800"/>
              </a:lnSpc>
              <a:buNone/>
            </a:pPr>
            <a:r>
              <a:rPr lang="en-US" sz="1200" dirty="0">
                <a:solidFill>
                  <a:srgbClr val="B7C2D9"/>
                </a:solidFill>
                <a:latin typeface="JetBrains Mono" pitchFamily="49" charset="0"/>
                <a:ea typeface="JetBrains Mono" pitchFamily="49" charset="-122"/>
                <a:cs typeface="JetBrains Mono" pitchFamily="49" charset="-120"/>
              </a:rPr>
              <a:t>POST /analysis</a:t>
            </a:r>
            <a:endParaRPr lang="en-US" sz="1200" dirty="0"/>
          </a:p>
          <a:p>
            <a:pPr algn="l" indent="0" marL="0">
              <a:lnSpc>
                <a:spcPts val="1800"/>
              </a:lnSpc>
              <a:buNone/>
            </a:pPr>
            <a:r>
              <a:rPr lang="en-US" sz="1200" dirty="0">
                <a:solidFill>
                  <a:srgbClr val="B7C2D9"/>
                </a:solidFill>
                <a:latin typeface="JetBrains Mono" pitchFamily="49" charset="0"/>
                <a:ea typeface="JetBrains Mono" pitchFamily="49" charset="-122"/>
                <a:cs typeface="JetBrains Mono" pitchFamily="49" charset="-120"/>
              </a:rPr>
              <a:t>GET /evaluation · /history</a:t>
            </a:r>
            <a:endParaRPr lang="en-US" sz="1200" dirty="0"/>
          </a:p>
        </p:txBody>
      </p:sp>
      <p:pic>
        <p:nvPicPr>
          <p:cNvPr id="11" name="Image 1" descr="arrow-right">    </p:cNvPr>
          <p:cNvPicPr>
            <a:picLocks noChangeAspect="1"/>
          </p:cNvPicPr>
          <p:nvPr/>
        </p:nvPicPr>
        <p:blipFill>
          <a:blip r:embed="rId2"/>
          <a:srcRect l="0" r="0" t="0" b="0"/>
          <a:stretch/>
        </p:blipFill>
        <p:spPr>
          <a:xfrm>
            <a:off x="7789366" y="2579191"/>
            <a:ext cx="304800" cy="177800"/>
          </a:xfrm>
          <a:prstGeom prst="rect">
            <a:avLst/>
          </a:prstGeom>
        </p:spPr>
      </p:pic>
      <p:sp>
        <p:nvSpPr>
          <p:cNvPr id="12" name="Shape 8"/>
          <p:cNvSpPr/>
          <p:nvPr/>
        </p:nvSpPr>
        <p:spPr>
          <a:xfrm>
            <a:off x="8198941" y="1844576"/>
            <a:ext cx="3177084" cy="1647130"/>
          </a:xfrm>
          <a:prstGeom prst="roundRect">
            <a:avLst>
              <a:gd name="adj" fmla="val 7518"/>
            </a:avLst>
          </a:prstGeom>
          <a:solidFill>
            <a:srgbClr val="1A2440"/>
          </a:solidFill>
          <a:ln w="6350">
            <a:solidFill>
              <a:srgbClr val="2A3A63"/>
            </a:solidFill>
            <a:prstDash val="solid"/>
          </a:ln>
        </p:spPr>
      </p:sp>
      <p:sp>
        <p:nvSpPr>
          <p:cNvPr id="13" name="Text 9"/>
          <p:cNvSpPr/>
          <p:nvPr/>
        </p:nvSpPr>
        <p:spPr>
          <a:xfrm>
            <a:off x="8405316" y="2050951"/>
            <a:ext cx="284726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DD9EB"/>
                </a:solidFill>
                <a:latin typeface="Space Grotesk" pitchFamily="34" charset="0"/>
                <a:ea typeface="Space Grotesk" pitchFamily="34" charset="-122"/>
                <a:cs typeface="Space Grotesk" pitchFamily="34" charset="-120"/>
              </a:rPr>
              <a:t>ML (Python)</a:t>
            </a:r>
            <a:endParaRPr lang="en-US" sz="1600" dirty="0"/>
          </a:p>
        </p:txBody>
      </p:sp>
      <p:sp>
        <p:nvSpPr>
          <p:cNvPr id="14" name="Text 10"/>
          <p:cNvSpPr/>
          <p:nvPr/>
        </p:nvSpPr>
        <p:spPr>
          <a:xfrm>
            <a:off x="8405316" y="2370931"/>
            <a:ext cx="2847264"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7C2D9"/>
                </a:solidFill>
                <a:latin typeface="IBM Plex Sans" pitchFamily="34" charset="0"/>
                <a:ea typeface="IBM Plex Sans" pitchFamily="34" charset="-122"/>
                <a:cs typeface="IBM Plex Sans" pitchFamily="34" charset="-120"/>
              </a:rPr>
              <a:t>2 XGBoost models (joblib)</a:t>
            </a:r>
            <a:endParaRPr lang="en-US" sz="1200" dirty="0"/>
          </a:p>
          <a:p>
            <a:pPr algn="l" indent="0" marL="0">
              <a:lnSpc>
                <a:spcPts val="1800"/>
              </a:lnSpc>
              <a:buNone/>
            </a:pPr>
            <a:r>
              <a:rPr lang="en-US" sz="1200" dirty="0">
                <a:solidFill>
                  <a:srgbClr val="B7C2D9"/>
                </a:solidFill>
                <a:latin typeface="IBM Plex Sans" pitchFamily="34" charset="0"/>
                <a:ea typeface="IBM Plex Sans" pitchFamily="34" charset="-122"/>
                <a:cs typeface="IBM Plex Sans" pitchFamily="34" charset="-120"/>
              </a:rPr>
              <a:t>growth simulator</a:t>
            </a:r>
            <a:endParaRPr lang="en-US" sz="1200" dirty="0"/>
          </a:p>
          <a:p>
            <a:pPr algn="l" indent="0" marL="0">
              <a:lnSpc>
                <a:spcPts val="1800"/>
              </a:lnSpc>
              <a:buNone/>
            </a:pPr>
            <a:r>
              <a:rPr lang="en-US" sz="1200" dirty="0">
                <a:solidFill>
                  <a:srgbClr val="B7C2D9"/>
                </a:solidFill>
                <a:latin typeface="IBM Plex Sans" pitchFamily="34" charset="0"/>
                <a:ea typeface="IBM Plex Sans" pitchFamily="34" charset="-122"/>
                <a:cs typeface="IBM Plex Sans" pitchFamily="34" charset="-120"/>
              </a:rPr>
              <a:t>what-if engine</a:t>
            </a:r>
            <a:endParaRPr lang="en-US" sz="1200" dirty="0"/>
          </a:p>
          <a:p>
            <a:pPr algn="l" indent="0" marL="0">
              <a:lnSpc>
                <a:spcPts val="1800"/>
              </a:lnSpc>
              <a:buNone/>
            </a:pPr>
            <a:r>
              <a:rPr lang="en-US" sz="1200" dirty="0">
                <a:solidFill>
                  <a:srgbClr val="B7C2D9"/>
                </a:solidFill>
                <a:latin typeface="IBM Plex Sans" pitchFamily="34" charset="0"/>
                <a:ea typeface="IBM Plex Sans" pitchFamily="34" charset="-122"/>
                <a:cs typeface="IBM Plex Sans" pitchFamily="34" charset="-120"/>
              </a:rPr>
              <a:t>learning guide</a:t>
            </a:r>
            <a:endParaRPr lang="en-US" sz="1200" dirty="0"/>
          </a:p>
        </p:txBody>
      </p:sp>
      <p:sp>
        <p:nvSpPr>
          <p:cNvPr id="15" name="Shape 11"/>
          <p:cNvSpPr/>
          <p:nvPr/>
        </p:nvSpPr>
        <p:spPr>
          <a:xfrm>
            <a:off x="819150" y="3755231"/>
            <a:ext cx="10553700" cy="825500"/>
          </a:xfrm>
          <a:prstGeom prst="roundRect">
            <a:avLst>
              <a:gd name="adj" fmla="val 14615"/>
            </a:avLst>
          </a:prstGeom>
          <a:solidFill>
            <a:srgbClr val="1F2E5C"/>
          </a:solidFill>
          <a:ln w="12700">
            <a:solidFill>
              <a:srgbClr val="3DD9EB"/>
            </a:solidFill>
            <a:prstDash val="solid"/>
          </a:ln>
        </p:spPr>
      </p:sp>
      <p:pic>
        <p:nvPicPr>
          <p:cNvPr id="16" name="Image 2" descr="Database">    </p:cNvPr>
          <p:cNvPicPr>
            <a:picLocks noChangeAspect="1"/>
          </p:cNvPicPr>
          <p:nvPr/>
        </p:nvPicPr>
        <p:blipFill>
          <a:blip r:embed="rId3"/>
          <a:srcRect l="0" r="0" t="0" b="0"/>
          <a:stretch/>
        </p:blipFill>
        <p:spPr>
          <a:xfrm>
            <a:off x="1028700" y="3964781"/>
            <a:ext cx="406400" cy="406400"/>
          </a:xfrm>
          <a:prstGeom prst="rect">
            <a:avLst/>
          </a:prstGeom>
        </p:spPr>
      </p:pic>
      <p:sp>
        <p:nvSpPr>
          <p:cNvPr id="17" name="Text 12"/>
          <p:cNvSpPr/>
          <p:nvPr/>
        </p:nvSpPr>
        <p:spPr>
          <a:xfrm>
            <a:off x="1587500" y="4043561"/>
            <a:ext cx="9779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EF2F8"/>
                </a:solidFill>
                <a:latin typeface="IBM Plex Sans" pitchFamily="34" charset="0"/>
                <a:ea typeface="IBM Plex Sans" pitchFamily="34" charset="-122"/>
                <a:cs typeface="IBM Plex Sans" pitchFamily="34" charset="-120"/>
              </a:rPr>
              <a:t>Apache Cassandra (Docker)</a:t>
            </a:r>
            <a:r>
              <a:rPr lang="en-US" sz="1400" dirty="0">
                <a:solidFill>
                  <a:srgbClr val="EEF2F8"/>
                </a:solidFill>
                <a:latin typeface="IBM Plex Sans" pitchFamily="34" charset="0"/>
                <a:ea typeface="IBM Plex Sans" pitchFamily="34" charset="-122"/>
                <a:cs typeface="IBM Plex Sans" pitchFamily="34" charset="-120"/>
              </a:rPr>
              <a:t>: survey_responses feeds training · predictions stores the history read by the API</a:t>
            </a:r>
            <a:endParaRPr lang="en-US" sz="1400" dirty="0"/>
          </a:p>
        </p:txBody>
      </p:sp>
      <p:sp>
        <p:nvSpPr>
          <p:cNvPr id="18" name="Text 13"/>
          <p:cNvSpPr/>
          <p:nvPr/>
        </p:nvSpPr>
        <p:spPr>
          <a:xfrm>
            <a:off x="812800" y="4841081"/>
            <a:ext cx="728960" cy="314920"/>
          </a:xfrm>
          <a:prstGeom prst="roundRect">
            <a:avLst>
              <a:gd name="adj" fmla="val 50000"/>
            </a:avLst>
          </a:prstGeom>
          <a:solidFill>
            <a:srgbClr val="1A2440"/>
          </a:solidFill>
          <a:ln/>
        </p:spPr>
        <p:txBody>
          <a:bodyPr wrap="none" lIns="0" tIns="0" rIns="0" bIns="0" rtlCol="0" anchor="ctr">
            <a:normAutofit/>
          </a:bodyPr>
          <a:lstStyle/>
          <a:p>
            <a:pPr algn="ctr"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pandas</a:t>
            </a:r>
            <a:endParaRPr lang="en-US" sz="1200" dirty="0"/>
          </a:p>
        </p:txBody>
      </p:sp>
      <p:sp>
        <p:nvSpPr>
          <p:cNvPr id="19" name="Text 14"/>
          <p:cNvSpPr/>
          <p:nvPr/>
        </p:nvSpPr>
        <p:spPr>
          <a:xfrm>
            <a:off x="1617960" y="4841081"/>
            <a:ext cx="996255" cy="314920"/>
          </a:xfrm>
          <a:prstGeom prst="roundRect">
            <a:avLst>
              <a:gd name="adj" fmla="val 50000"/>
            </a:avLst>
          </a:prstGeom>
          <a:solidFill>
            <a:srgbClr val="1A2440"/>
          </a:solidFill>
          <a:ln/>
        </p:spPr>
        <p:txBody>
          <a:bodyPr wrap="none" lIns="0" tIns="0" rIns="0" bIns="0" rtlCol="0" anchor="ctr">
            <a:normAutofit/>
          </a:bodyPr>
          <a:lstStyle/>
          <a:p>
            <a:pPr algn="ctr"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scikit-learn</a:t>
            </a:r>
            <a:endParaRPr lang="en-US" sz="1200" dirty="0"/>
          </a:p>
        </p:txBody>
      </p:sp>
      <p:sp>
        <p:nvSpPr>
          <p:cNvPr id="20" name="Text 15"/>
          <p:cNvSpPr/>
          <p:nvPr/>
        </p:nvSpPr>
        <p:spPr>
          <a:xfrm>
            <a:off x="2690416" y="4841081"/>
            <a:ext cx="822523" cy="314920"/>
          </a:xfrm>
          <a:prstGeom prst="roundRect">
            <a:avLst>
              <a:gd name="adj" fmla="val 50000"/>
            </a:avLst>
          </a:prstGeom>
          <a:solidFill>
            <a:srgbClr val="1A2440"/>
          </a:solidFill>
          <a:ln/>
        </p:spPr>
        <p:txBody>
          <a:bodyPr wrap="none" lIns="0" tIns="0" rIns="0" bIns="0" rtlCol="0" anchor="ctr">
            <a:normAutofit/>
          </a:bodyPr>
          <a:lstStyle/>
          <a:p>
            <a:pPr algn="ctr"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XGBoost</a:t>
            </a:r>
            <a:endParaRPr lang="en-US" sz="1200" dirty="0"/>
          </a:p>
        </p:txBody>
      </p:sp>
      <p:sp>
        <p:nvSpPr>
          <p:cNvPr id="21" name="Text 16"/>
          <p:cNvSpPr/>
          <p:nvPr/>
        </p:nvSpPr>
        <p:spPr>
          <a:xfrm>
            <a:off x="3589139" y="4841081"/>
            <a:ext cx="608409" cy="314920"/>
          </a:xfrm>
          <a:prstGeom prst="roundRect">
            <a:avLst>
              <a:gd name="adj" fmla="val 50000"/>
            </a:avLst>
          </a:prstGeom>
          <a:solidFill>
            <a:srgbClr val="1A2440"/>
          </a:solidFill>
          <a:ln/>
        </p:spPr>
        <p:txBody>
          <a:bodyPr wrap="none" lIns="0" tIns="0" rIns="0" bIns="0" rtlCol="0" anchor="ctr">
            <a:normAutofit/>
          </a:bodyPr>
          <a:lstStyle/>
          <a:p>
            <a:pPr algn="ctr"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joblib</a:t>
            </a:r>
            <a:endParaRPr lang="en-US" sz="1200" dirty="0"/>
          </a:p>
        </p:txBody>
      </p:sp>
      <p:sp>
        <p:nvSpPr>
          <p:cNvPr id="22" name="Text 17"/>
          <p:cNvSpPr/>
          <p:nvPr/>
        </p:nvSpPr>
        <p:spPr>
          <a:xfrm>
            <a:off x="4273748" y="4841081"/>
            <a:ext cx="749102" cy="314920"/>
          </a:xfrm>
          <a:prstGeom prst="roundRect">
            <a:avLst>
              <a:gd name="adj" fmla="val 50000"/>
            </a:avLst>
          </a:prstGeom>
          <a:solidFill>
            <a:srgbClr val="1A2440"/>
          </a:solidFill>
          <a:ln/>
        </p:spPr>
        <p:txBody>
          <a:bodyPr wrap="none" lIns="0" tIns="0" rIns="0" bIns="0" rtlCol="0" anchor="ctr">
            <a:normAutofit/>
          </a:bodyPr>
          <a:lstStyle/>
          <a:p>
            <a:pPr algn="ctr"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Jupyter</a:t>
            </a:r>
            <a:endParaRPr lang="en-US" sz="1200" dirty="0"/>
          </a:p>
        </p:txBody>
      </p:sp>
      <p:sp>
        <p:nvSpPr>
          <p:cNvPr id="23" name="Text 18"/>
          <p:cNvSpPr/>
          <p:nvPr/>
        </p:nvSpPr>
        <p:spPr>
          <a:xfrm>
            <a:off x="5099050" y="4841081"/>
            <a:ext cx="1523305" cy="314920"/>
          </a:xfrm>
          <a:prstGeom prst="roundRect">
            <a:avLst>
              <a:gd name="adj" fmla="val 50000"/>
            </a:avLst>
          </a:prstGeom>
          <a:solidFill>
            <a:srgbClr val="1A2440"/>
          </a:solidFill>
          <a:ln/>
        </p:spPr>
        <p:txBody>
          <a:bodyPr wrap="none" lIns="0" tIns="0" rIns="0" bIns="0" rtlCol="0" anchor="ctr">
            <a:normAutofit/>
          </a:bodyPr>
          <a:lstStyle/>
          <a:p>
            <a:pPr algn="ctr"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FastAPI + Pydantic</a:t>
            </a:r>
            <a:endParaRPr lang="en-US" sz="1200" dirty="0"/>
          </a:p>
        </p:txBody>
      </p:sp>
      <p:sp>
        <p:nvSpPr>
          <p:cNvPr id="24" name="Text 19"/>
          <p:cNvSpPr/>
          <p:nvPr/>
        </p:nvSpPr>
        <p:spPr>
          <a:xfrm>
            <a:off x="6698555" y="4841081"/>
            <a:ext cx="1376958" cy="314920"/>
          </a:xfrm>
          <a:prstGeom prst="roundRect">
            <a:avLst>
              <a:gd name="adj" fmla="val 50000"/>
            </a:avLst>
          </a:prstGeom>
          <a:solidFill>
            <a:srgbClr val="1A2440"/>
          </a:solidFill>
          <a:ln/>
        </p:spPr>
        <p:txBody>
          <a:bodyPr wrap="none" lIns="0" tIns="0" rIns="0" bIns="0" rtlCol="0" anchor="ctr">
            <a:normAutofit/>
          </a:bodyPr>
          <a:lstStyle/>
          <a:p>
            <a:pPr algn="ctr"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Cassandra driver</a:t>
            </a:r>
            <a:endParaRPr lang="en-US" sz="1200" dirty="0"/>
          </a:p>
        </p:txBody>
      </p:sp>
      <p:sp>
        <p:nvSpPr>
          <p:cNvPr id="25" name="Text 20"/>
          <p:cNvSpPr/>
          <p:nvPr/>
        </p:nvSpPr>
        <p:spPr>
          <a:xfrm>
            <a:off x="8151713" y="4841081"/>
            <a:ext cx="702766" cy="314920"/>
          </a:xfrm>
          <a:prstGeom prst="roundRect">
            <a:avLst>
              <a:gd name="adj" fmla="val 50000"/>
            </a:avLst>
          </a:prstGeom>
          <a:solidFill>
            <a:srgbClr val="1A2440"/>
          </a:solidFill>
          <a:ln/>
        </p:spPr>
        <p:txBody>
          <a:bodyPr wrap="none" lIns="0" tIns="0" rIns="0" bIns="0" rtlCol="0" anchor="ctr">
            <a:normAutofit/>
          </a:bodyPr>
          <a:lstStyle/>
          <a:p>
            <a:pPr algn="ctr"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Next.js</a:t>
            </a:r>
            <a:endParaRPr lang="en-US" sz="1200" dirty="0"/>
          </a:p>
        </p:txBody>
      </p:sp>
      <p:sp>
        <p:nvSpPr>
          <p:cNvPr id="26" name="Text 21"/>
          <p:cNvSpPr/>
          <p:nvPr/>
        </p:nvSpPr>
        <p:spPr>
          <a:xfrm>
            <a:off x="8930680" y="4841081"/>
            <a:ext cx="775593" cy="314920"/>
          </a:xfrm>
          <a:prstGeom prst="roundRect">
            <a:avLst>
              <a:gd name="adj" fmla="val 50000"/>
            </a:avLst>
          </a:prstGeom>
          <a:solidFill>
            <a:srgbClr val="1A2440"/>
          </a:solidFill>
          <a:ln/>
        </p:spPr>
        <p:txBody>
          <a:bodyPr wrap="none" lIns="0" tIns="0" rIns="0" bIns="0" rtlCol="0" anchor="ctr">
            <a:normAutofit/>
          </a:bodyPr>
          <a:lstStyle/>
          <a:p>
            <a:pPr algn="ctr"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Three.js</a:t>
            </a:r>
            <a:endParaRPr lang="en-US" sz="1200" dirty="0"/>
          </a:p>
        </p:txBody>
      </p:sp>
      <p:sp>
        <p:nvSpPr>
          <p:cNvPr id="27" name="Text 22"/>
          <p:cNvSpPr/>
          <p:nvPr/>
        </p:nvSpPr>
        <p:spPr>
          <a:xfrm>
            <a:off x="9782473" y="4841081"/>
            <a:ext cx="836414" cy="314920"/>
          </a:xfrm>
          <a:prstGeom prst="roundRect">
            <a:avLst>
              <a:gd name="adj" fmla="val 50000"/>
            </a:avLst>
          </a:prstGeom>
          <a:solidFill>
            <a:srgbClr val="1A2440"/>
          </a:solidFill>
          <a:ln/>
        </p:spPr>
        <p:txBody>
          <a:bodyPr wrap="none" lIns="0" tIns="0" rIns="0" bIns="0" rtlCol="0" anchor="ctr">
            <a:normAutofit/>
          </a:bodyPr>
          <a:lstStyle/>
          <a:p>
            <a:pPr algn="ctr"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Recharts</a:t>
            </a:r>
            <a:endParaRPr lang="en-US" sz="1200" dirty="0"/>
          </a:p>
        </p:txBody>
      </p:sp>
      <p:sp>
        <p:nvSpPr>
          <p:cNvPr id="28" name="Text 23"/>
          <p:cNvSpPr/>
          <p:nvPr/>
        </p:nvSpPr>
        <p:spPr>
          <a:xfrm>
            <a:off x="812800" y="5232202"/>
            <a:ext cx="710208" cy="314920"/>
          </a:xfrm>
          <a:prstGeom prst="roundRect">
            <a:avLst>
              <a:gd name="adj" fmla="val 50000"/>
            </a:avLst>
          </a:prstGeom>
          <a:solidFill>
            <a:srgbClr val="1A2440"/>
          </a:solidFill>
          <a:ln/>
        </p:spPr>
        <p:txBody>
          <a:bodyPr wrap="none" lIns="0" tIns="0" rIns="0" bIns="0" rtlCol="0" anchor="ctr">
            <a:normAutofit/>
          </a:bodyPr>
          <a:lstStyle/>
          <a:p>
            <a:pPr algn="ctr" indent="0" marL="0">
              <a:lnSpc>
                <a:spcPts val="1680"/>
              </a:lnSpc>
              <a:buNone/>
            </a:pPr>
            <a:r>
              <a:rPr lang="en-US" sz="1200" dirty="0">
                <a:solidFill>
                  <a:srgbClr val="B7C2D9"/>
                </a:solidFill>
                <a:latin typeface="IBM Plex Sans" pitchFamily="34" charset="0"/>
                <a:ea typeface="IBM Plex Sans" pitchFamily="34" charset="-122"/>
                <a:cs typeface="IBM Plex Sans" pitchFamily="34" charset="-120"/>
              </a:rPr>
              <a:t>Docker</a:t>
            </a:r>
            <a:endParaRPr lang="en-US" sz="1200" dirty="0"/>
          </a:p>
        </p:txBody>
      </p:sp>
      <p:sp>
        <p:nvSpPr>
          <p:cNvPr id="29"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6"/>
                </a:solidFill>
                <a:latin typeface="JetBrains Mono" pitchFamily="49" charset="0"/>
                <a:ea typeface="JetBrains Mono" pitchFamily="49" charset="-122"/>
                <a:cs typeface="JetBrains Mono" pitchFamily="49" charset="-120"/>
              </a:rPr>
              <a:t>DevAscend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3DD9EB"/>
                </a:solidFill>
                <a:latin typeface="JetBrains Mono" pitchFamily="49" charset="0"/>
                <a:ea typeface="JetBrains Mono" pitchFamily="49" charset="-122"/>
                <a:cs typeface="JetBrains Mono" pitchFamily="49" charset="-120"/>
              </a:rPr>
              <a:t>CONCLUSION</a:t>
            </a:r>
            <a:endParaRPr lang="en-US" sz="1300" dirty="0"/>
          </a:p>
        </p:txBody>
      </p:sp>
      <p:sp>
        <p:nvSpPr>
          <p:cNvPr id="3" name="Text 1"/>
          <p:cNvSpPr/>
          <p:nvPr/>
        </p:nvSpPr>
        <p:spPr>
          <a:xfrm>
            <a:off x="812800" y="11200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EEF2F8"/>
                </a:solidFill>
                <a:latin typeface="Space Grotesk" pitchFamily="34" charset="0"/>
                <a:ea typeface="Space Grotesk" pitchFamily="34" charset="-122"/>
                <a:cs typeface="Space Grotesk" pitchFamily="34" charset="-120"/>
              </a:rPr>
              <a:t>Honest limits, clear next steps</a:t>
            </a:r>
            <a:endParaRPr lang="en-US" sz="3200" dirty="0"/>
          </a:p>
        </p:txBody>
      </p:sp>
      <p:sp>
        <p:nvSpPr>
          <p:cNvPr id="4" name="Shape 2"/>
          <p:cNvSpPr/>
          <p:nvPr/>
        </p:nvSpPr>
        <p:spPr>
          <a:xfrm>
            <a:off x="815975" y="1844576"/>
            <a:ext cx="5175250" cy="1921272"/>
          </a:xfrm>
          <a:prstGeom prst="roundRect">
            <a:avLst>
              <a:gd name="adj" fmla="val 6445"/>
            </a:avLst>
          </a:prstGeom>
          <a:solidFill>
            <a:srgbClr val="1A2440"/>
          </a:solidFill>
          <a:ln w="6350">
            <a:solidFill>
              <a:srgbClr val="2A3A63"/>
            </a:solidFill>
            <a:prstDash val="solid"/>
          </a:ln>
        </p:spPr>
      </p:sp>
      <p:sp>
        <p:nvSpPr>
          <p:cNvPr id="5" name="Text 3"/>
          <p:cNvSpPr/>
          <p:nvPr/>
        </p:nvSpPr>
        <p:spPr>
          <a:xfrm>
            <a:off x="1073150" y="2101751"/>
            <a:ext cx="480072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EF2F8"/>
                </a:solidFill>
                <a:latin typeface="Space Grotesk" pitchFamily="34" charset="0"/>
                <a:ea typeface="Space Grotesk" pitchFamily="34" charset="-122"/>
                <a:cs typeface="Space Grotesk" pitchFamily="34" charset="-120"/>
              </a:rPr>
              <a:t>Limitations</a:t>
            </a:r>
            <a:endParaRPr lang="en-US" sz="1800" dirty="0"/>
          </a:p>
        </p:txBody>
      </p:sp>
      <p:sp>
        <p:nvSpPr>
          <p:cNvPr id="6" name="Text 4"/>
          <p:cNvSpPr/>
          <p:nvPr/>
        </p:nvSpPr>
        <p:spPr>
          <a:xfrm>
            <a:off x="1151382" y="2477591"/>
            <a:ext cx="4714875" cy="1056481"/>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B7C2D9"/>
                </a:solidFill>
                <a:latin typeface="IBM Plex Sans" pitchFamily="34" charset="0"/>
                <a:ea typeface="IBM Plex Sans" pitchFamily="34" charset="-122"/>
                <a:cs typeface="IBM Plex Sans" pitchFamily="34" charset="-120"/>
              </a:rPr>
              <a:t>Cross-sectional data, the future is simulated</a:t>
            </a:r>
            <a:endParaRPr lang="en-US" sz="1400" dirty="0"/>
          </a:p>
          <a:p>
            <a:pPr algn="l" marL="175768" indent="-175768">
              <a:lnSpc>
                <a:spcPts val="2030"/>
              </a:lnSpc>
              <a:buSzPct val="100000"/>
              <a:buChar char="•"/>
            </a:pPr>
            <a:r>
              <a:rPr lang="en-US" sz="1400" dirty="0">
                <a:solidFill>
                  <a:srgbClr val="B7C2D9"/>
                </a:solidFill>
                <a:latin typeface="IBM Plex Sans" pitchFamily="34" charset="0"/>
                <a:ea typeface="IBM Plex Sans" pitchFamily="34" charset="-122"/>
                <a:cs typeface="IBM Plex Sans" pitchFamily="34" charset="-120"/>
              </a:rPr>
              <a:t>Skill boosts are correlation, not causation</a:t>
            </a:r>
            <a:endParaRPr lang="en-US" sz="1400" dirty="0"/>
          </a:p>
          <a:p>
            <a:pPr algn="l" marL="175768" indent="-175768">
              <a:lnSpc>
                <a:spcPts val="2030"/>
              </a:lnSpc>
              <a:buSzPct val="100000"/>
              <a:buChar char="•"/>
            </a:pPr>
            <a:r>
              <a:rPr lang="en-US" sz="1400" dirty="0">
                <a:solidFill>
                  <a:srgbClr val="B7C2D9"/>
                </a:solidFill>
                <a:latin typeface="IBM Plex Sans" pitchFamily="34" charset="0"/>
                <a:ea typeface="IBM Plex Sans" pitchFamily="34" charset="-122"/>
                <a:cs typeface="IBM Plex Sans" pitchFamily="34" charset="-120"/>
              </a:rPr>
              <a:t>Salary misses company, city, negotiation</a:t>
            </a:r>
            <a:endParaRPr lang="en-US" sz="1400" dirty="0"/>
          </a:p>
          <a:p>
            <a:pPr algn="l" marL="175768" indent="-175768">
              <a:lnSpc>
                <a:spcPts val="2030"/>
              </a:lnSpc>
              <a:buSzPct val="100000"/>
              <a:buChar char="•"/>
            </a:pPr>
            <a:r>
              <a:rPr lang="en-US" sz="1400" dirty="0">
                <a:solidFill>
                  <a:srgbClr val="B7C2D9"/>
                </a:solidFill>
                <a:latin typeface="IBM Plex Sans" pitchFamily="34" charset="0"/>
                <a:ea typeface="IBM Plex Sans" pitchFamily="34" charset="-122"/>
                <a:cs typeface="IBM Plex Sans" pitchFamily="34" charset="-120"/>
              </a:rPr>
              <a:t>Study hours per topic are estimates</a:t>
            </a:r>
            <a:endParaRPr lang="en-US" sz="1400" dirty="0"/>
          </a:p>
        </p:txBody>
      </p:sp>
      <p:sp>
        <p:nvSpPr>
          <p:cNvPr id="7" name="Shape 5"/>
          <p:cNvSpPr/>
          <p:nvPr/>
        </p:nvSpPr>
        <p:spPr>
          <a:xfrm>
            <a:off x="6200775" y="1844576"/>
            <a:ext cx="5175250" cy="1921272"/>
          </a:xfrm>
          <a:prstGeom prst="roundRect">
            <a:avLst>
              <a:gd name="adj" fmla="val 6445"/>
            </a:avLst>
          </a:prstGeom>
          <a:solidFill>
            <a:srgbClr val="1A2440"/>
          </a:solidFill>
          <a:ln w="6350">
            <a:solidFill>
              <a:srgbClr val="2A3A63"/>
            </a:solidFill>
            <a:prstDash val="solid"/>
          </a:ln>
        </p:spPr>
      </p:sp>
      <p:sp>
        <p:nvSpPr>
          <p:cNvPr id="8" name="Text 6"/>
          <p:cNvSpPr/>
          <p:nvPr/>
        </p:nvSpPr>
        <p:spPr>
          <a:xfrm>
            <a:off x="6457950" y="2101751"/>
            <a:ext cx="480072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EF2F8"/>
                </a:solidFill>
                <a:latin typeface="Space Grotesk" pitchFamily="34" charset="0"/>
                <a:ea typeface="Space Grotesk" pitchFamily="34" charset="-122"/>
                <a:cs typeface="Space Grotesk" pitchFamily="34" charset="-120"/>
              </a:rPr>
              <a:t>Future work</a:t>
            </a:r>
            <a:endParaRPr lang="en-US" sz="1800" dirty="0"/>
          </a:p>
        </p:txBody>
      </p:sp>
      <p:sp>
        <p:nvSpPr>
          <p:cNvPr id="9" name="Text 7"/>
          <p:cNvSpPr/>
          <p:nvPr/>
        </p:nvSpPr>
        <p:spPr>
          <a:xfrm>
            <a:off x="6536182" y="2477591"/>
            <a:ext cx="4714875" cy="1056481"/>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B7C2D9"/>
                </a:solidFill>
                <a:latin typeface="IBM Plex Sans" pitchFamily="34" charset="0"/>
                <a:ea typeface="IBM Plex Sans" pitchFamily="34" charset="-122"/>
                <a:cs typeface="IBM Plex Sans" pitchFamily="34" charset="-120"/>
              </a:rPr>
              <a:t>Track real users over time</a:t>
            </a:r>
            <a:endParaRPr lang="en-US" sz="1400" dirty="0"/>
          </a:p>
          <a:p>
            <a:pPr algn="l" marL="175768" indent="-175768">
              <a:lnSpc>
                <a:spcPts val="2030"/>
              </a:lnSpc>
              <a:buSzPct val="100000"/>
              <a:buChar char="•"/>
            </a:pPr>
            <a:r>
              <a:rPr lang="en-US" sz="1400" dirty="0">
                <a:solidFill>
                  <a:srgbClr val="B7C2D9"/>
                </a:solidFill>
                <a:latin typeface="IBM Plex Sans" pitchFamily="34" charset="0"/>
                <a:ea typeface="IBM Plex Sans" pitchFamily="34" charset="-122"/>
                <a:cs typeface="IBM Plex Sans" pitchFamily="34" charset="-120"/>
              </a:rPr>
              <a:t>Add city and company size</a:t>
            </a:r>
            <a:endParaRPr lang="en-US" sz="1400" dirty="0"/>
          </a:p>
          <a:p>
            <a:pPr algn="l" marL="175768" indent="-175768">
              <a:lnSpc>
                <a:spcPts val="2030"/>
              </a:lnSpc>
              <a:buSzPct val="100000"/>
              <a:buChar char="•"/>
            </a:pPr>
            <a:r>
              <a:rPr lang="en-US" sz="1400" dirty="0">
                <a:solidFill>
                  <a:srgbClr val="B7C2D9"/>
                </a:solidFill>
                <a:latin typeface="IBM Plex Sans" pitchFamily="34" charset="0"/>
                <a:ea typeface="IBM Plex Sans" pitchFamily="34" charset="-122"/>
                <a:cs typeface="IBM Plex Sans" pitchFamily="34" charset="-120"/>
              </a:rPr>
              <a:t>SHAP explanations, hyper-parameter tuning</a:t>
            </a:r>
            <a:endParaRPr lang="en-US" sz="1400" dirty="0"/>
          </a:p>
          <a:p>
            <a:pPr algn="l" marL="175768" indent="-175768">
              <a:lnSpc>
                <a:spcPts val="2030"/>
              </a:lnSpc>
              <a:buSzPct val="100000"/>
              <a:buChar char="•"/>
            </a:pPr>
            <a:r>
              <a:rPr lang="en-US" sz="1400" dirty="0">
                <a:solidFill>
                  <a:srgbClr val="B7C2D9"/>
                </a:solidFill>
                <a:latin typeface="IBM Plex Sans" pitchFamily="34" charset="0"/>
                <a:ea typeface="IBM Plex Sans" pitchFamily="34" charset="-122"/>
                <a:cs typeface="IBM Plex Sans" pitchFamily="34" charset="-120"/>
              </a:rPr>
              <a:t>3-node Cassandra cluster, replication 3</a:t>
            </a:r>
            <a:endParaRPr lang="en-US" sz="1400" dirty="0"/>
          </a:p>
        </p:txBody>
      </p:sp>
      <p:sp>
        <p:nvSpPr>
          <p:cNvPr id="10" name="Text 8"/>
          <p:cNvSpPr/>
          <p:nvPr>
            <p:ph type="title"/>
          </p:nvPr>
        </p:nvSpPr>
        <p:spPr>
          <a:xfrm>
            <a:off x="812800" y="4023023"/>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gradFill rotWithShape="1">
                  <a:gsLst>
                    <a:gs pos="0">
                      <a:srgbClr val="3DD9EB"/>
                    </a:gs>
                    <a:gs pos="100000">
                      <a:srgbClr val="9B8CFF"/>
                    </a:gs>
                  </a:gsLst>
                  <a:lin ang="0" scaled="0"/>
                </a:gradFill>
                <a:latin typeface="Space Grotesk" pitchFamily="34" charset="0"/>
                <a:ea typeface="Space Grotesk" pitchFamily="34" charset="-122"/>
                <a:cs typeface="Space Grotesk" pitchFamily="34" charset="-120"/>
              </a:rPr>
              <a:t>Thank you. Questions?</a:t>
            </a:r>
            <a:endParaRPr lang="en-US" sz="48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6"/>
                </a:solidFill>
                <a:latin typeface="JetBrains Mono" pitchFamily="49" charset="0"/>
                <a:ea typeface="JetBrains Mono" pitchFamily="49" charset="-122"/>
                <a:cs typeface="JetBrains Mono" pitchFamily="49" charset="-120"/>
              </a:rPr>
              <a:t>DevAscend · 12 · Live demo: localhost:3000 · API docs: localhost:8000/docs</a:t>
            </a:r>
            <a:endParaRPr lang="en-US" sz="1200" dirty="0"/>
          </a:p>
        </p:txBody>
      </p:sp>
    </p:spTree>
  </p:cSld>
  <p:clrMapOvr>
    <a:masterClrMapping/>
  </p:clrMapOvr>
</p:sld>
</file>

<file path=ppt/theme/theme1.xml><?xml version="1.0" encoding="utf-8"?>
<a:theme xmlns:a="http://schemas.openxmlformats.org/drawingml/2006/main" name="DevAscend – Project Presentation">
  <a:themeElements>
    <a:clrScheme name="DevAscend – Project Presentation">
      <a:dk1>
        <a:srgbClr val="121A30"/>
      </a:dk1>
      <a:lt1>
        <a:srgbClr val="EEF2F8"/>
      </a:lt1>
      <a:dk2>
        <a:srgbClr val="283044"/>
      </a:dk2>
      <a:lt2>
        <a:srgbClr val="B7BCC6"/>
      </a:lt2>
      <a:accent1>
        <a:srgbClr val="3DD9EB"/>
      </a:accent1>
      <a:accent2>
        <a:srgbClr val="7F8BA6"/>
      </a:accent2>
      <a:accent3>
        <a:srgbClr val="9B8CFF"/>
      </a:accent3>
      <a:accent4>
        <a:srgbClr val="1F2E5C"/>
      </a:accent4>
      <a:accent5>
        <a:srgbClr val="2A2650"/>
      </a:accent5>
      <a:accent6>
        <a:srgbClr val="B7C2D9"/>
      </a:accent6>
      <a:hlink>
        <a:srgbClr val="0563C1"/>
      </a:hlink>
      <a:folHlink>
        <a:srgbClr val="954F72"/>
      </a:folHlink>
    </a:clrScheme>
    <a:fontScheme name="DevAscend – Project Presentatio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DevAscend – Project Presentation</dc:title>
  <dc:subject/>
  <dc:creator/>
  <cp:lastModifiedBy/>
  <cp:revision>1</cp:revision>
  <dcterms:created xsi:type="dcterms:W3CDTF">2026-10-02T16:43:34Z</dcterms:created>
  <dcterms:modified xsi:type="dcterms:W3CDTF">2026-10-02T16:43:34Z</dcterms:modified>
</cp:coreProperties>
</file>